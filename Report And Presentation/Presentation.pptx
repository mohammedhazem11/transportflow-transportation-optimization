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4" r:id="rId9"/>
    <p:sldId id="265" r:id="rId10"/>
    <p:sldId id="266" r:id="rId11"/>
    <p:sldId id="273" r:id="rId12"/>
    <p:sldId id="274" r:id="rId13"/>
    <p:sldId id="275" r:id="rId14"/>
    <p:sldId id="272"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E2C"/>
                </a:solidFill>
                <a:latin typeface="+mn-lt"/>
              </a:defRPr>
            </a:pPr>
            <a:r>
              <a:rPr lang="en-US" sz="1400" b="0" i="0" u="none" strike="noStrike">
                <a:solidFill>
                  <a:srgbClr val="1E1E2C"/>
                </a:solidFill>
                <a:latin typeface="+mn-lt"/>
              </a:rPr>
              <a:t>Total cost (EGP)</a:t>
            </a:r>
          </a:p>
        </c:rich>
      </c:tx>
      <c:overlay val="0"/>
    </c:title>
    <c:autoTitleDeleted val="0"/>
    <c:plotArea>
      <c:layout/>
      <c:barChart>
        <c:barDir val="col"/>
        <c:grouping val="clustered"/>
        <c:varyColors val="0"/>
        <c:ser>
          <c:idx val="0"/>
          <c:order val="0"/>
          <c:tx>
            <c:strRef>
              <c:f>Sheet1!$B$1</c:f>
              <c:strCache>
                <c:ptCount val="1"/>
                <c:pt idx="0">
                  <c:v>VAM</c:v>
                </c:pt>
              </c:strCache>
            </c:strRef>
          </c:tx>
          <c:spPr>
            <a:solidFill>
              <a:srgbClr val="9A9AA6"/>
            </a:solidFill>
            <a:effectLst/>
          </c:spPr>
          <c:invertIfNegative val="0"/>
          <c:dLbls>
            <c:numFmt formatCode="#,##0" sourceLinked="0"/>
            <c:spPr>
              <a:noFill/>
              <a:ln>
                <a:noFill/>
              </a:ln>
              <a:effectLst/>
            </c:spPr>
            <c:txPr>
              <a:bodyPr/>
              <a:lstStyle/>
              <a:p>
                <a:pPr>
                  <a:defRPr sz="1100" b="0" i="0" u="none" strike="noStrike">
                    <a:solidFill>
                      <a:srgbClr val="1E1E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Demand &gt; Supply</c:v>
                </c:pt>
                <c:pt idx="1">
                  <c:v>Supply &gt; Demand</c:v>
                </c:pt>
                <c:pt idx="2">
                  <c:v>Balanced</c:v>
                </c:pt>
              </c:strCache>
            </c:strRef>
          </c:cat>
          <c:val>
            <c:numRef>
              <c:f>Sheet1!$B$2:$B$4</c:f>
              <c:numCache>
                <c:formatCode>General</c:formatCode>
                <c:ptCount val="3"/>
                <c:pt idx="0">
                  <c:v>1310</c:v>
                </c:pt>
                <c:pt idx="1">
                  <c:v>835</c:v>
                </c:pt>
                <c:pt idx="2">
                  <c:v>1150</c:v>
                </c:pt>
              </c:numCache>
            </c:numRef>
          </c:val>
          <c:extLst>
            <c:ext xmlns:c16="http://schemas.microsoft.com/office/drawing/2014/chart" uri="{C3380CC4-5D6E-409C-BE32-E72D297353CC}">
              <c16:uniqueId val="{00000000-0054-4473-BD93-93CD936EA298}"/>
            </c:ext>
          </c:extLst>
        </c:ser>
        <c:ser>
          <c:idx val="1"/>
          <c:order val="1"/>
          <c:tx>
            <c:strRef>
              <c:f>Sheet1!$C$1</c:f>
              <c:strCache>
                <c:ptCount val="1"/>
                <c:pt idx="0">
                  <c:v>Least Cost</c:v>
                </c:pt>
              </c:strCache>
            </c:strRef>
          </c:tx>
          <c:spPr>
            <a:solidFill>
              <a:srgbClr val="8DB4F0"/>
            </a:solidFill>
            <a:effectLst/>
          </c:spPr>
          <c:invertIfNegative val="0"/>
          <c:dLbls>
            <c:numFmt formatCode="#,##0" sourceLinked="0"/>
            <c:spPr>
              <a:noFill/>
              <a:ln>
                <a:noFill/>
              </a:ln>
              <a:effectLst/>
            </c:spPr>
            <c:txPr>
              <a:bodyPr/>
              <a:lstStyle/>
              <a:p>
                <a:pPr>
                  <a:defRPr sz="1100" b="0" i="0" u="none" strike="noStrike">
                    <a:solidFill>
                      <a:srgbClr val="1E1E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Demand &gt; Supply</c:v>
                </c:pt>
                <c:pt idx="1">
                  <c:v>Supply &gt; Demand</c:v>
                </c:pt>
                <c:pt idx="2">
                  <c:v>Balanced</c:v>
                </c:pt>
              </c:strCache>
            </c:strRef>
          </c:cat>
          <c:val>
            <c:numRef>
              <c:f>Sheet1!$C$2:$C$4</c:f>
              <c:numCache>
                <c:formatCode>General</c:formatCode>
                <c:ptCount val="3"/>
                <c:pt idx="0">
                  <c:v>1260</c:v>
                </c:pt>
                <c:pt idx="1">
                  <c:v>1235</c:v>
                </c:pt>
                <c:pt idx="2">
                  <c:v>1280</c:v>
                </c:pt>
              </c:numCache>
            </c:numRef>
          </c:val>
          <c:extLst>
            <c:ext xmlns:c16="http://schemas.microsoft.com/office/drawing/2014/chart" uri="{C3380CC4-5D6E-409C-BE32-E72D297353CC}">
              <c16:uniqueId val="{00000001-0054-4473-BD93-93CD936EA298}"/>
            </c:ext>
          </c:extLst>
        </c:ser>
        <c:ser>
          <c:idx val="2"/>
          <c:order val="2"/>
          <c:tx>
            <c:strRef>
              <c:f>Sheet1!$D$1</c:f>
              <c:strCache>
                <c:ptCount val="1"/>
                <c:pt idx="0">
                  <c:v>MODI (optimal)</c:v>
                </c:pt>
              </c:strCache>
            </c:strRef>
          </c:tx>
          <c:spPr>
            <a:solidFill>
              <a:srgbClr val="1D5FD1"/>
            </a:solidFill>
            <a:effectLst/>
          </c:spPr>
          <c:invertIfNegative val="0"/>
          <c:dLbls>
            <c:numFmt formatCode="#,##0" sourceLinked="0"/>
            <c:spPr>
              <a:noFill/>
              <a:ln>
                <a:noFill/>
              </a:ln>
              <a:effectLst/>
            </c:spPr>
            <c:txPr>
              <a:bodyPr/>
              <a:lstStyle/>
              <a:p>
                <a:pPr>
                  <a:defRPr sz="1100" b="0" i="0" u="none" strike="noStrike">
                    <a:solidFill>
                      <a:srgbClr val="1E1E2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Demand &gt; Supply</c:v>
                </c:pt>
                <c:pt idx="1">
                  <c:v>Supply &gt; Demand</c:v>
                </c:pt>
                <c:pt idx="2">
                  <c:v>Balanced</c:v>
                </c:pt>
              </c:strCache>
            </c:strRef>
          </c:cat>
          <c:val>
            <c:numRef>
              <c:f>Sheet1!$D$2:$D$4</c:f>
              <c:numCache>
                <c:formatCode>General</c:formatCode>
                <c:ptCount val="3"/>
                <c:pt idx="0">
                  <c:v>1060</c:v>
                </c:pt>
                <c:pt idx="1">
                  <c:v>780</c:v>
                </c:pt>
                <c:pt idx="2">
                  <c:v>1100</c:v>
                </c:pt>
              </c:numCache>
            </c:numRef>
          </c:val>
          <c:extLst>
            <c:ext xmlns:c16="http://schemas.microsoft.com/office/drawing/2014/chart" uri="{C3380CC4-5D6E-409C-BE32-E72D297353CC}">
              <c16:uniqueId val="{00000002-0054-4473-BD93-93CD936EA29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1E2C"/>
                </a:solidFill>
                <a:latin typeface="+mn-lt"/>
              </a:defRPr>
            </a:pPr>
            <a:endParaRPr lang="en-US"/>
          </a:p>
        </c:txPr>
        <c:crossAx val="2094734552"/>
        <c:crosses val="autoZero"/>
        <c:auto val="1"/>
        <c:lblAlgn val="ctr"/>
        <c:lblOffset val="100"/>
        <c:noMultiLvlLbl val="1"/>
      </c:catAx>
      <c:valAx>
        <c:axId val="2094734552"/>
        <c:scaling>
          <c:orientation val="minMax"/>
          <c:max val="1500"/>
          <c:min val="0"/>
        </c:scaling>
        <c:delete val="0"/>
        <c:axPos val="l"/>
        <c:majorGridlines>
          <c:spPr>
            <a:ln w="6350" cap="flat">
              <a:solidFill>
                <a:srgbClr val="C9D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5F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E2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20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rPr lang="ar-EG"/>
              <a:t>VAM بيبني خطة بداية ذكية. الفكرة: بدل ما ناخد أرخص خلية على طول، بنبص على 'لو فوّتنا أرخص مسار هنخسر قد إيه؟' ودي الـ penalty (الفرق بين أرخص خيارين). نبدأ بالصف أو العمود اللي خسارته أكبر ونملأ أرخص خلية فيه. مثال Scenario 3 أول جولة: عمود Airline تكاليفه 2 و7 و20 و16، الفرق 7-2=5 وهو أكبر penalty، فنبعت 20 مهندس من Company 1 لـ Airline ونقفل العمود ونكرر.</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rPr lang="ar-EG"/>
              <a:t>Least Cost أبسط من VAM: دايماً ياخد أرخص خلية في الجدول ويملاها بأقصى كمية، ويشطب الصف أو العمود اللي خلص، ويكرر. مثال Scenario 3: أرخص خلية 1 (Company 1 → Bank) نبعت 20، وبعدها Company 4 → Ministry (1) نبعت 20. بسيطة وسريعة بس بتتجاهل إن الاختيار الرخيص ممكن يغلّينا بعدين، عشان كده كسبت في Scenario 1 بس.</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rPr lang="ar-EG"/>
              <a:t>MODI بياخد خطة البداية (VAM) ويسأل: هل في مسار مش مستخدم لو استخدمناه التكلفة تقل؟ بنديك كل شركة وموقع درجة (u و v) من المسارات المستخدمة، وبعدين لكل مسار مش مستخدم نحسب Δ = التكلفة - (u+v). لو كل الـ Δ صفر أو موجبة يبقى الخطة أمثل. لو في Δ سالبة نعمل loop ونحوّل أقل كمية على علامة ناقص ونكرر. مثال Scenario 2: مسار Company 1 → Factory عمل loop = +4 -5 +8 -18 = -11 لكل مهندس، حوّلنا 5 مهندسين فوفّرنا 55 جنيه (835 ← 780).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274320"/>
            <a:ext cx="384048" cy="384048"/>
          </a:xfrm>
          <a:prstGeom prst="rect">
            <a:avLst/>
          </a:prstGeom>
        </p:spPr>
      </p:pic>
      <p:sp>
        <p:nvSpPr>
          <p:cNvPr id="3" name="Text 0"/>
          <p:cNvSpPr/>
          <p:nvPr/>
        </p:nvSpPr>
        <p:spPr>
          <a:xfrm>
            <a:off x="1143000" y="256032"/>
            <a:ext cx="4572000" cy="457200"/>
          </a:xfrm>
          <a:prstGeom prst="rect">
            <a:avLst/>
          </a:prstGeom>
          <a:noFill/>
          <a:ln/>
        </p:spPr>
        <p:txBody>
          <a:bodyPr wrap="square" lIns="0" tIns="0" rIns="0" bIns="0" rtlCol="0" anchor="ctr"/>
          <a:lstStyle/>
          <a:p>
            <a:pPr marL="0" indent="0">
              <a:buNone/>
            </a:pPr>
            <a:r>
              <a:rPr lang="en-US" sz="1300" b="1" kern="0" spc="300" dirty="0">
                <a:solidFill>
                  <a:schemeClr val="tx2"/>
                </a:solidFill>
              </a:rPr>
              <a:t>SOC INCIDENT RESPONSE</a:t>
            </a:r>
            <a:endParaRPr lang="en-US" sz="1300" dirty="0"/>
          </a:p>
        </p:txBody>
      </p:sp>
      <p:sp>
        <p:nvSpPr>
          <p:cNvPr id="4" name="Shape 1"/>
          <p:cNvSpPr/>
          <p:nvPr/>
        </p:nvSpPr>
        <p:spPr>
          <a:xfrm>
            <a:off x="548640" y="868680"/>
            <a:ext cx="11091672" cy="0"/>
          </a:xfrm>
          <a:prstGeom prst="line">
            <a:avLst/>
          </a:prstGeom>
          <a:noFill/>
          <a:ln w="9525">
            <a:solidFill>
              <a:schemeClr val="tx1"/>
            </a:solidFill>
            <a:prstDash val="solid"/>
          </a:ln>
        </p:spPr>
        <p:txBody>
          <a:bodyPr/>
          <a:lstStyle/>
          <a:p>
            <a:endParaRPr lang="en-US"/>
          </a:p>
        </p:txBody>
      </p:sp>
      <p:sp>
        <p:nvSpPr>
          <p:cNvPr id="5" name="Text 2"/>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tx2"/>
                </a:solidFill>
              </a:rPr>
              <a:t>Team 3  |  Operations Research</a:t>
            </a:r>
            <a:endParaRPr lang="en-US" sz="1000" dirty="0"/>
          </a:p>
        </p:txBody>
      </p:sp>
      <p:sp>
        <p:nvSpPr>
          <p:cNvPr id="6" name="Text 3"/>
          <p:cNvSpPr>
            <a:spLocks noGrp="1"/>
          </p:cNvSpPr>
          <p:nvPr>
            <p:ph type="title" idx="104" hasCustomPrompt="1"/>
          </p:nvPr>
        </p:nvSpPr>
        <p:spPr>
          <a:xfrm>
            <a:off x="548640" y="960120"/>
            <a:ext cx="11091672" cy="685800"/>
          </a:xfrm>
          <a:prstGeom prst="rect">
            <a:avLst/>
          </a:prstGeom>
          <a:noFill/>
          <a:ln/>
        </p:spPr>
        <p:txBody>
          <a:bodyPr wrap="square" rtlCol="0"/>
          <a:lstStyle>
            <a:lvl1pPr marL="0" indent="0" algn="l">
              <a:buNone/>
              <a:defRPr lang="en-US" sz="3600" b="1" dirty="0">
                <a:solidFill>
                  <a:schemeClr val="accent1"/>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6035040"/>
            <a:ext cx="12188952" cy="822960"/>
          </a:xfrm>
          <a:prstGeom prst="rect">
            <a:avLst/>
          </a:prstGeom>
          <a:solidFill>
            <a:schemeClr val="accent1"/>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am badge"/>
          <p:cNvSpPr/>
          <p:nvPr/>
        </p:nvSpPr>
        <p:spPr>
          <a:xfrm>
            <a:off x="640080" y="548640"/>
            <a:ext cx="1371600" cy="384048"/>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3" name="Text 1"/>
          <p:cNvSpPr txBox="1"/>
          <p:nvPr/>
        </p:nvSpPr>
        <p:spPr>
          <a:xfrm>
            <a:off x="640080" y="548640"/>
            <a:ext cx="1371600" cy="384048"/>
          </a:xfrm>
          <a:prstGeom prst="rect">
            <a:avLst/>
          </a:prstGeom>
          <a:noFill/>
          <a:ln/>
        </p:spPr>
        <p:txBody>
          <a:bodyPr wrap="square" lIns="0" tIns="0" rIns="0" bIns="0" rtlCol="0" anchor="ctr"/>
          <a:lstStyle/>
          <a:p>
            <a:pPr marL="0" indent="0" algn="ctr">
              <a:buNone/>
            </a:pPr>
            <a:r>
              <a:rPr lang="en-US" sz="1400" b="1" kern="0" spc="300" dirty="0">
                <a:solidFill>
                  <a:schemeClr val="bg1"/>
                </a:solidFill>
                <a:latin typeface="Arial" pitchFamily="34" charset="0"/>
                <a:ea typeface="Arial" pitchFamily="34" charset="-122"/>
                <a:cs typeface="Arial" pitchFamily="34" charset="-120"/>
              </a:rPr>
              <a:t>TEAM </a:t>
            </a:r>
            <a:r>
              <a:rPr lang="ar-EG" sz="1400" b="1" kern="0" spc="300" dirty="0">
                <a:solidFill>
                  <a:schemeClr val="bg1"/>
                </a:solidFill>
                <a:latin typeface="Arial" pitchFamily="34" charset="0"/>
                <a:ea typeface="Arial" pitchFamily="34" charset="-122"/>
                <a:cs typeface="Arial" pitchFamily="34" charset="-120"/>
              </a:rPr>
              <a:t>2</a:t>
            </a:r>
            <a:endParaRPr lang="en-US" sz="1400" dirty="0"/>
          </a:p>
        </p:txBody>
      </p:sp>
      <p:sp>
        <p:nvSpPr>
          <p:cNvPr id="4" name="Text 2"/>
          <p:cNvSpPr txBox="1"/>
          <p:nvPr/>
        </p:nvSpPr>
        <p:spPr>
          <a:xfrm>
            <a:off x="640080" y="1417320"/>
            <a:ext cx="5943600" cy="365760"/>
          </a:xfrm>
          <a:prstGeom prst="rect">
            <a:avLst/>
          </a:prstGeom>
          <a:noFill/>
          <a:ln/>
        </p:spPr>
        <p:txBody>
          <a:bodyPr wrap="square" lIns="0" tIns="0" rIns="0" bIns="0" rtlCol="0" anchor="t"/>
          <a:lstStyle/>
          <a:p>
            <a:pPr marL="0" indent="0">
              <a:buNone/>
            </a:pPr>
            <a:r>
              <a:rPr lang="en-US" sz="1600" b="1" kern="0" spc="400" dirty="0">
                <a:solidFill>
                  <a:schemeClr val="tx2"/>
                </a:solidFill>
                <a:latin typeface="Arial" pitchFamily="34" charset="0"/>
                <a:ea typeface="Arial" pitchFamily="34" charset="-122"/>
                <a:cs typeface="Arial" pitchFamily="34" charset="-120"/>
              </a:rPr>
              <a:t>OPERATIONS RESEARCH</a:t>
            </a:r>
            <a:endParaRPr lang="en-US" sz="1600" dirty="0"/>
          </a:p>
        </p:txBody>
      </p:sp>
      <p:sp>
        <p:nvSpPr>
          <p:cNvPr id="5" name="Text 3"/>
          <p:cNvSpPr txBox="1"/>
          <p:nvPr/>
        </p:nvSpPr>
        <p:spPr>
          <a:xfrm>
            <a:off x="640080" y="1828800"/>
            <a:ext cx="6309360" cy="2286000"/>
          </a:xfrm>
          <a:prstGeom prst="rect">
            <a:avLst/>
          </a:prstGeom>
          <a:noFill/>
          <a:ln/>
        </p:spPr>
        <p:txBody>
          <a:bodyPr wrap="square" lIns="0" tIns="0" rIns="0" bIns="0" rtlCol="0" anchor="t"/>
          <a:lstStyle/>
          <a:p>
            <a:pPr marL="0" indent="0">
              <a:buNone/>
            </a:pPr>
            <a:r>
              <a:rPr lang="en-US" sz="5200" b="1" dirty="0">
                <a:solidFill>
                  <a:schemeClr val="tx1"/>
                </a:solidFill>
                <a:latin typeface="Arial" pitchFamily="34" charset="0"/>
                <a:ea typeface="Arial" pitchFamily="34" charset="-122"/>
                <a:cs typeface="Arial" pitchFamily="34" charset="-120"/>
              </a:rPr>
              <a:t>Optimizing </a:t>
            </a:r>
            <a:endParaRPr lang="en-US" sz="5200" dirty="0"/>
          </a:p>
          <a:p>
            <a:pPr marL="0" indent="0">
              <a:buNone/>
            </a:pPr>
            <a:r>
              <a:rPr lang="en-US" sz="5200" b="1" dirty="0">
                <a:solidFill>
                  <a:schemeClr val="accent1"/>
                </a:solidFill>
                <a:latin typeface="Arial" pitchFamily="34" charset="0"/>
                <a:ea typeface="Arial" pitchFamily="34" charset="-122"/>
                <a:cs typeface="Arial" pitchFamily="34" charset="-120"/>
              </a:rPr>
              <a:t>Cyber Incident </a:t>
            </a:r>
            <a:endParaRPr lang="en-US" sz="5200" dirty="0"/>
          </a:p>
          <a:p>
            <a:pPr marL="0" indent="0">
              <a:buNone/>
            </a:pPr>
            <a:r>
              <a:rPr lang="en-US" sz="5200" b="1" dirty="0">
                <a:solidFill>
                  <a:schemeClr val="tx1"/>
                </a:solidFill>
                <a:latin typeface="Arial" pitchFamily="34" charset="0"/>
                <a:ea typeface="Arial" pitchFamily="34" charset="-122"/>
                <a:cs typeface="Arial" pitchFamily="34" charset="-120"/>
              </a:rPr>
              <a:t>Response</a:t>
            </a:r>
            <a:endParaRPr lang="en-US" sz="5200" dirty="0"/>
          </a:p>
        </p:txBody>
      </p:sp>
      <p:sp>
        <p:nvSpPr>
          <p:cNvPr id="6" name="Text 4"/>
          <p:cNvSpPr txBox="1"/>
          <p:nvPr/>
        </p:nvSpPr>
        <p:spPr>
          <a:xfrm>
            <a:off x="640080" y="4434840"/>
            <a:ext cx="5852160" cy="822960"/>
          </a:xfrm>
          <a:prstGeom prst="rect">
            <a:avLst/>
          </a:prstGeom>
          <a:noFill/>
          <a:ln/>
        </p:spPr>
        <p:txBody>
          <a:bodyPr wrap="square" lIns="0" tIns="0" rIns="0" bIns="0" rtlCol="0" anchor="t"/>
          <a:lstStyle/>
          <a:p>
            <a:pPr marL="0" indent="0">
              <a:buNone/>
            </a:pPr>
            <a:r>
              <a:rPr lang="en-US" sz="1800" dirty="0">
                <a:solidFill>
                  <a:schemeClr val="tx2"/>
                </a:solidFill>
                <a:latin typeface="Arial" pitchFamily="34" charset="0"/>
                <a:ea typeface="Arial" pitchFamily="34" charset="-122"/>
                <a:cs typeface="Arial" pitchFamily="34" charset="-120"/>
              </a:rPr>
              <a:t>Deploying SOC engineers from 4 Egyptian cities to 10 alerting client sites, at minimum cost.</a:t>
            </a:r>
            <a:endParaRPr lang="en-US" sz="1800" dirty="0"/>
          </a:p>
        </p:txBody>
      </p:sp>
      <p:sp>
        <p:nvSpPr>
          <p:cNvPr id="7" name="Text 5"/>
          <p:cNvSpPr txBox="1"/>
          <p:nvPr/>
        </p:nvSpPr>
        <p:spPr>
          <a:xfrm>
            <a:off x="640080" y="5623560"/>
            <a:ext cx="5486400" cy="457200"/>
          </a:xfrm>
          <a:prstGeom prst="rect">
            <a:avLst/>
          </a:prstGeom>
          <a:noFill/>
          <a:ln/>
        </p:spPr>
        <p:txBody>
          <a:bodyPr wrap="square" lIns="0" tIns="0" rIns="0" bIns="0" rtlCol="0" anchor="t"/>
          <a:lstStyle/>
          <a:p>
            <a:pPr marL="0" indent="0">
              <a:buNone/>
            </a:pPr>
            <a:r>
              <a:rPr lang="en-US" sz="2200" b="1" kern="0" spc="200" dirty="0">
                <a:solidFill>
                  <a:schemeClr val="accent2"/>
                </a:solidFill>
                <a:latin typeface="Arial" pitchFamily="34" charset="0"/>
                <a:ea typeface="Arial" pitchFamily="34" charset="-122"/>
                <a:cs typeface="Arial" pitchFamily="34" charset="-120"/>
              </a:rPr>
              <a:t>DR. </a:t>
            </a:r>
            <a:r>
              <a:rPr lang="en-US" sz="2200" b="1" kern="0" spc="200">
                <a:solidFill>
                  <a:schemeClr val="accent2"/>
                </a:solidFill>
                <a:latin typeface="Arial" pitchFamily="34" charset="0"/>
                <a:ea typeface="Arial" pitchFamily="34" charset="-122"/>
                <a:cs typeface="Arial" pitchFamily="34" charset="-120"/>
              </a:rPr>
              <a:t>AMIRA ALLAM</a:t>
            </a:r>
            <a:endParaRPr lang="en-US" sz="2200" dirty="0"/>
          </a:p>
        </p:txBody>
      </p:sp>
      <p:sp>
        <p:nvSpPr>
          <p:cNvPr id="8" name="Photo frame"/>
          <p:cNvSpPr/>
          <p:nvPr/>
        </p:nvSpPr>
        <p:spPr>
          <a:xfrm>
            <a:off x="7178040" y="548640"/>
            <a:ext cx="4480560" cy="5760720"/>
          </a:xfrm>
          <a:prstGeom prst="roundRect">
            <a:avLst>
              <a:gd name="adj" fmla="val 3061"/>
            </a:avLst>
          </a:prstGeom>
          <a:solidFill>
            <a:schemeClr val="accent1"/>
          </a:solidFill>
          <a:ln w="12700">
            <a:solidFill>
              <a:schemeClr val="accent1"/>
            </a:solidFill>
            <a:prstDash val="solid"/>
          </a:ln>
        </p:spPr>
        <p:txBody>
          <a:bodyPr/>
          <a:lstStyle/>
          <a:p>
            <a:endParaRPr lang="en-US"/>
          </a:p>
        </p:txBody>
      </p:sp>
      <p:pic>
        <p:nvPicPr>
          <p:cNvPr id="9" name="Image 0" descr="SOC monitors showing incident response dashboards"/>
          <p:cNvPicPr>
            <a:picLocks noChangeAspect="1"/>
          </p:cNvPicPr>
          <p:nvPr/>
        </p:nvPicPr>
        <p:blipFill>
          <a:blip r:embed="rId3"/>
          <a:srcRect/>
          <a:stretch/>
        </p:blipFill>
        <p:spPr>
          <a:xfrm>
            <a:off x="7315200" y="685800"/>
            <a:ext cx="4206240"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AGENDA</a:t>
            </a:r>
            <a:endParaRPr lang="en-US" sz="3600" dirty="0"/>
          </a:p>
        </p:txBody>
      </p:sp>
      <p:sp>
        <p:nvSpPr>
          <p:cNvPr id="3" name="Agenda arrow 1"/>
          <p:cNvSpPr/>
          <p:nvPr/>
        </p:nvSpPr>
        <p:spPr>
          <a:xfrm>
            <a:off x="640080" y="1956816"/>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4" name="Text 2"/>
          <p:cNvSpPr txBox="1"/>
          <p:nvPr/>
        </p:nvSpPr>
        <p:spPr>
          <a:xfrm>
            <a:off x="1417320" y="1920240"/>
            <a:ext cx="5120640" cy="402336"/>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Introduction</a:t>
            </a:r>
            <a:endParaRPr lang="en-US" sz="2400" dirty="0"/>
          </a:p>
        </p:txBody>
      </p:sp>
      <p:sp>
        <p:nvSpPr>
          <p:cNvPr id="5" name="Agenda arrow 2"/>
          <p:cNvSpPr/>
          <p:nvPr/>
        </p:nvSpPr>
        <p:spPr>
          <a:xfrm>
            <a:off x="640080" y="2542032"/>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1417320" y="2505456"/>
            <a:ext cx="5120640" cy="402336"/>
          </a:xfrm>
          <a:prstGeom prst="rect">
            <a:avLst/>
          </a:prstGeom>
          <a:noFill/>
          <a:ln/>
        </p:spPr>
        <p:txBody>
          <a:bodyPr wrap="square" lIns="0" tIns="0" rIns="0" bIns="0" rtlCol="0" anchor="ctr"/>
          <a:lstStyle/>
          <a:p>
            <a:pPr marL="0" indent="0">
              <a:buNone/>
            </a:pPr>
            <a:r>
              <a:rPr lang="en-US" sz="2400" dirty="0">
                <a:solidFill>
                  <a:schemeClr val="tx1"/>
                </a:solidFill>
                <a:latin typeface="Arial" pitchFamily="34" charset="0"/>
                <a:ea typeface="Arial" pitchFamily="34" charset="-122"/>
                <a:cs typeface="Arial" pitchFamily="34" charset="-120"/>
              </a:rPr>
              <a:t>Problem Definition</a:t>
            </a:r>
            <a:endParaRPr lang="en-US" sz="2400" dirty="0"/>
          </a:p>
        </p:txBody>
      </p:sp>
      <p:sp>
        <p:nvSpPr>
          <p:cNvPr id="7" name="Agenda arrow 3"/>
          <p:cNvSpPr/>
          <p:nvPr/>
        </p:nvSpPr>
        <p:spPr>
          <a:xfrm>
            <a:off x="640080" y="3127248"/>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8" name="Text 6"/>
          <p:cNvSpPr txBox="1"/>
          <p:nvPr/>
        </p:nvSpPr>
        <p:spPr>
          <a:xfrm>
            <a:off x="1417320" y="3090672"/>
            <a:ext cx="5120640" cy="402336"/>
          </a:xfrm>
          <a:prstGeom prst="rect">
            <a:avLst/>
          </a:prstGeom>
          <a:noFill/>
          <a:ln/>
        </p:spPr>
        <p:txBody>
          <a:bodyPr wrap="square" lIns="0" tIns="0" rIns="0" bIns="0" rtlCol="0" anchor="ctr"/>
          <a:lstStyle/>
          <a:p>
            <a:pPr marL="0" indent="0">
              <a:buNone/>
            </a:pPr>
            <a:r>
              <a:rPr lang="en-US" sz="2400" dirty="0">
                <a:solidFill>
                  <a:schemeClr val="tx1"/>
                </a:solidFill>
                <a:latin typeface="Arial" pitchFamily="34" charset="0"/>
                <a:ea typeface="Arial" pitchFamily="34" charset="-122"/>
                <a:cs typeface="Arial" pitchFamily="34" charset="-120"/>
              </a:rPr>
              <a:t>Mathematical Model</a:t>
            </a:r>
            <a:endParaRPr lang="en-US" sz="2400" dirty="0"/>
          </a:p>
        </p:txBody>
      </p:sp>
      <p:sp>
        <p:nvSpPr>
          <p:cNvPr id="9" name="Agenda arrow 4"/>
          <p:cNvSpPr/>
          <p:nvPr/>
        </p:nvSpPr>
        <p:spPr>
          <a:xfrm>
            <a:off x="640080" y="3712464"/>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1417320" y="3675888"/>
            <a:ext cx="5120640" cy="402336"/>
          </a:xfrm>
          <a:prstGeom prst="rect">
            <a:avLst/>
          </a:prstGeom>
          <a:noFill/>
          <a:ln/>
        </p:spPr>
        <p:txBody>
          <a:bodyPr wrap="square" lIns="0" tIns="0" rIns="0" bIns="0" rtlCol="0" anchor="ctr"/>
          <a:lstStyle/>
          <a:p>
            <a:pPr marL="0" indent="0">
              <a:buNone/>
            </a:pPr>
            <a:r>
              <a:rPr lang="en-US" sz="2400" dirty="0">
                <a:solidFill>
                  <a:schemeClr val="tx1"/>
                </a:solidFill>
                <a:latin typeface="Arial" pitchFamily="34" charset="0"/>
                <a:ea typeface="Arial" pitchFamily="34" charset="-122"/>
                <a:cs typeface="Arial" pitchFamily="34" charset="-120"/>
              </a:rPr>
              <a:t>Solution Methods</a:t>
            </a:r>
            <a:endParaRPr lang="en-US" sz="2400" dirty="0"/>
          </a:p>
        </p:txBody>
      </p:sp>
      <p:sp>
        <p:nvSpPr>
          <p:cNvPr id="11" name="Agenda arrow 5"/>
          <p:cNvSpPr/>
          <p:nvPr/>
        </p:nvSpPr>
        <p:spPr>
          <a:xfrm>
            <a:off x="640080" y="4297680"/>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12" name="Text 10"/>
          <p:cNvSpPr txBox="1"/>
          <p:nvPr/>
        </p:nvSpPr>
        <p:spPr>
          <a:xfrm>
            <a:off x="1417320" y="4261104"/>
            <a:ext cx="5120640" cy="402336"/>
          </a:xfrm>
          <a:prstGeom prst="rect">
            <a:avLst/>
          </a:prstGeom>
          <a:noFill/>
          <a:ln/>
        </p:spPr>
        <p:txBody>
          <a:bodyPr wrap="square" lIns="0" tIns="0" rIns="0" bIns="0" rtlCol="0" anchor="ctr"/>
          <a:lstStyle/>
          <a:p>
            <a:pPr marL="0" indent="0">
              <a:buNone/>
            </a:pPr>
            <a:r>
              <a:rPr lang="en-US" sz="2400" dirty="0">
                <a:solidFill>
                  <a:schemeClr val="tx1"/>
                </a:solidFill>
                <a:latin typeface="Arial" pitchFamily="34" charset="0"/>
                <a:ea typeface="Arial" pitchFamily="34" charset="-122"/>
                <a:cs typeface="Arial" pitchFamily="34" charset="-120"/>
              </a:rPr>
              <a:t>Code Overview</a:t>
            </a:r>
            <a:endParaRPr lang="en-US" sz="2400" dirty="0"/>
          </a:p>
        </p:txBody>
      </p:sp>
      <p:sp>
        <p:nvSpPr>
          <p:cNvPr id="13" name="Agenda arrow 6"/>
          <p:cNvSpPr/>
          <p:nvPr/>
        </p:nvSpPr>
        <p:spPr>
          <a:xfrm>
            <a:off x="640080" y="4882896"/>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14" name="Text 12"/>
          <p:cNvSpPr txBox="1"/>
          <p:nvPr/>
        </p:nvSpPr>
        <p:spPr>
          <a:xfrm>
            <a:off x="1417320" y="4846320"/>
            <a:ext cx="5120640" cy="402336"/>
          </a:xfrm>
          <a:prstGeom prst="rect">
            <a:avLst/>
          </a:prstGeom>
          <a:noFill/>
          <a:ln/>
        </p:spPr>
        <p:txBody>
          <a:bodyPr wrap="square" lIns="0" tIns="0" rIns="0" bIns="0" rtlCol="0" anchor="ctr"/>
          <a:lstStyle/>
          <a:p>
            <a:pPr marL="0" indent="0">
              <a:buNone/>
            </a:pPr>
            <a:r>
              <a:rPr lang="en-US" sz="2400" dirty="0">
                <a:solidFill>
                  <a:schemeClr val="tx1"/>
                </a:solidFill>
                <a:latin typeface="Arial" pitchFamily="34" charset="0"/>
                <a:ea typeface="Arial" pitchFamily="34" charset="-122"/>
                <a:cs typeface="Arial" pitchFamily="34" charset="-120"/>
              </a:rPr>
              <a:t>Results</a:t>
            </a:r>
            <a:endParaRPr lang="en-US" sz="2400" dirty="0"/>
          </a:p>
        </p:txBody>
      </p:sp>
      <p:sp>
        <p:nvSpPr>
          <p:cNvPr id="15" name="Agenda arrow 7"/>
          <p:cNvSpPr/>
          <p:nvPr/>
        </p:nvSpPr>
        <p:spPr>
          <a:xfrm>
            <a:off x="640080" y="5468112"/>
            <a:ext cx="548640" cy="329184"/>
          </a:xfrm>
          <a:prstGeom prst="rightArrow">
            <a:avLst/>
          </a:prstGeom>
          <a:solidFill>
            <a:schemeClr val="accent1"/>
          </a:solidFill>
          <a:ln w="12700">
            <a:solidFill>
              <a:schemeClr val="accent1"/>
            </a:solidFill>
            <a:prstDash val="solid"/>
          </a:ln>
        </p:spPr>
        <p:txBody>
          <a:bodyPr/>
          <a:lstStyle/>
          <a:p>
            <a:endParaRPr lang="en-US"/>
          </a:p>
        </p:txBody>
      </p:sp>
      <p:sp>
        <p:nvSpPr>
          <p:cNvPr id="16" name="Text 14"/>
          <p:cNvSpPr txBox="1"/>
          <p:nvPr/>
        </p:nvSpPr>
        <p:spPr>
          <a:xfrm>
            <a:off x="1417320" y="5431536"/>
            <a:ext cx="5120640" cy="402336"/>
          </a:xfrm>
          <a:prstGeom prst="rect">
            <a:avLst/>
          </a:prstGeom>
          <a:noFill/>
          <a:ln/>
        </p:spPr>
        <p:txBody>
          <a:bodyPr wrap="square" lIns="0" tIns="0" rIns="0" bIns="0" rtlCol="0" anchor="ctr"/>
          <a:lstStyle/>
          <a:p>
            <a:pPr marL="0" indent="0">
              <a:buNone/>
            </a:pPr>
            <a:r>
              <a:rPr lang="en-US" sz="2400" dirty="0">
                <a:solidFill>
                  <a:schemeClr val="tx1"/>
                </a:solidFill>
                <a:latin typeface="Arial" pitchFamily="34" charset="0"/>
                <a:ea typeface="Arial" pitchFamily="34" charset="-122"/>
                <a:cs typeface="Arial" pitchFamily="34" charset="-120"/>
              </a:rPr>
              <a:t>Discussion &amp; Conclusion</a:t>
            </a:r>
            <a:endParaRPr lang="en-US" sz="2400" dirty="0"/>
          </a:p>
        </p:txBody>
      </p:sp>
      <p:sp>
        <p:nvSpPr>
          <p:cNvPr id="17" name="Agenda panel"/>
          <p:cNvSpPr/>
          <p:nvPr/>
        </p:nvSpPr>
        <p:spPr>
          <a:xfrm>
            <a:off x="7315200" y="1920240"/>
            <a:ext cx="4325112" cy="4023360"/>
          </a:xfrm>
          <a:prstGeom prst="roundRect">
            <a:avLst>
              <a:gd name="adj" fmla="val 2727"/>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8" name="Text 16"/>
          <p:cNvSpPr txBox="1"/>
          <p:nvPr/>
        </p:nvSpPr>
        <p:spPr>
          <a:xfrm>
            <a:off x="7680960" y="2194560"/>
            <a:ext cx="3657600" cy="27432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Arial" pitchFamily="34" charset="0"/>
                <a:ea typeface="Arial" pitchFamily="34" charset="-122"/>
                <a:cs typeface="Arial" pitchFamily="34" charset="-120"/>
              </a:rPr>
              <a:t>THE IDEA IN ONE LINE</a:t>
            </a:r>
            <a:endParaRPr lang="en-US" sz="1200" dirty="0"/>
          </a:p>
        </p:txBody>
      </p:sp>
      <p:sp>
        <p:nvSpPr>
          <p:cNvPr id="19" name="Text 17"/>
          <p:cNvSpPr txBox="1"/>
          <p:nvPr/>
        </p:nvSpPr>
        <p:spPr>
          <a:xfrm>
            <a:off x="7680960" y="2606040"/>
            <a:ext cx="3657600" cy="2011680"/>
          </a:xfrm>
          <a:prstGeom prst="rect">
            <a:avLst/>
          </a:prstGeom>
          <a:noFill/>
          <a:ln/>
        </p:spPr>
        <p:txBody>
          <a:bodyPr wrap="square" lIns="0" tIns="0" rIns="0" bIns="0" rtlCol="0" anchor="t"/>
          <a:lstStyle/>
          <a:p>
            <a:pPr marL="0" indent="0">
              <a:buNone/>
            </a:pPr>
            <a:r>
              <a:rPr lang="en-US" sz="2600" b="1" dirty="0">
                <a:solidFill>
                  <a:schemeClr val="tx1"/>
                </a:solidFill>
                <a:latin typeface="Arial" pitchFamily="34" charset="0"/>
                <a:ea typeface="Arial" pitchFamily="34" charset="-122"/>
                <a:cs typeface="Arial" pitchFamily="34" charset="-120"/>
              </a:rPr>
              <a:t>Alerts arrive.</a:t>
            </a:r>
            <a:endParaRPr lang="en-US" sz="2600" dirty="0"/>
          </a:p>
          <a:p>
            <a:pPr marL="0" indent="0">
              <a:buNone/>
            </a:pPr>
            <a:r>
              <a:rPr lang="en-US" sz="2600" b="1" dirty="0">
                <a:solidFill>
                  <a:schemeClr val="tx1"/>
                </a:solidFill>
                <a:latin typeface="Arial" pitchFamily="34" charset="0"/>
                <a:ea typeface="Arial" pitchFamily="34" charset="-122"/>
                <a:cs typeface="Arial" pitchFamily="34" charset="-120"/>
              </a:rPr>
              <a:t>Engineers are scarce.</a:t>
            </a:r>
            <a:endParaRPr lang="en-US" sz="2600" dirty="0"/>
          </a:p>
          <a:p>
            <a:pPr marL="0" indent="0">
              <a:buNone/>
            </a:pPr>
            <a:r>
              <a:rPr lang="en-US" sz="2600" b="1" dirty="0">
                <a:solidFill>
                  <a:schemeClr val="accent1"/>
                </a:solidFill>
                <a:latin typeface="Arial" pitchFamily="34" charset="0"/>
                <a:ea typeface="Arial" pitchFamily="34" charset="-122"/>
                <a:cs typeface="Arial" pitchFamily="34" charset="-120"/>
              </a:rPr>
              <a:t>Who goes where, at what cost?</a:t>
            </a:r>
            <a:endParaRPr lang="en-US" sz="2600" dirty="0"/>
          </a:p>
        </p:txBody>
      </p:sp>
      <p:sp>
        <p:nvSpPr>
          <p:cNvPr id="20" name="Text 18"/>
          <p:cNvSpPr txBox="1"/>
          <p:nvPr/>
        </p:nvSpPr>
        <p:spPr>
          <a:xfrm>
            <a:off x="7680960" y="5074920"/>
            <a:ext cx="3657600" cy="365760"/>
          </a:xfrm>
          <a:prstGeom prst="rect">
            <a:avLst/>
          </a:prstGeom>
          <a:noFill/>
          <a:ln/>
        </p:spPr>
        <p:txBody>
          <a:bodyPr wrap="square" lIns="0" tIns="0" rIns="0" bIns="0" rtlCol="0" anchor="t"/>
          <a:lstStyle/>
          <a:p>
            <a:pPr marL="0" indent="0">
              <a:buNone/>
            </a:pPr>
            <a:r>
              <a:rPr lang="en-US" sz="1800" b="1" dirty="0">
                <a:solidFill>
                  <a:schemeClr val="tx2"/>
                </a:solidFill>
                <a:latin typeface="Arial" pitchFamily="34" charset="0"/>
                <a:ea typeface="Arial" pitchFamily="34" charset="-122"/>
                <a:cs typeface="Arial" pitchFamily="34" charset="-120"/>
              </a:rPr>
              <a:t>4 SOC hubs  →  10 alert sites</a:t>
            </a:r>
            <a:endParaRPr lang="en-US" sz="1800" dirty="0"/>
          </a:p>
        </p:txBody>
      </p:sp>
      <p:sp>
        <p:nvSpPr>
          <p:cNvPr id="21" name="Text 19"/>
          <p:cNvSpPr txBox="1"/>
          <p:nvPr/>
        </p:nvSpPr>
        <p:spPr>
          <a:xfrm>
            <a:off x="7680960" y="5440680"/>
            <a:ext cx="3657600" cy="36576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200 engineers available</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THE CYBER EMERGENCY</a:t>
            </a:r>
            <a:endParaRPr lang="en-US" sz="3600" dirty="0"/>
          </a:p>
        </p:txBody>
      </p:sp>
      <p:sp>
        <p:nvSpPr>
          <p:cNvPr id="3" name="Text 1"/>
          <p:cNvSpPr txBox="1"/>
          <p:nvPr/>
        </p:nvSpPr>
        <p:spPr>
          <a:xfrm>
            <a:off x="548640" y="1874520"/>
            <a:ext cx="6035040" cy="457200"/>
          </a:xfrm>
          <a:prstGeom prst="rect">
            <a:avLst/>
          </a:prstGeom>
          <a:noFill/>
          <a:ln/>
        </p:spPr>
        <p:txBody>
          <a:bodyPr wrap="square" lIns="0" tIns="0" rIns="0" bIns="0" rtlCol="0" anchor="t"/>
          <a:lstStyle/>
          <a:p>
            <a:pPr marL="0" indent="0">
              <a:buNone/>
            </a:pPr>
            <a:r>
              <a:rPr lang="en-US" sz="2400" b="1" dirty="0">
                <a:solidFill>
                  <a:schemeClr val="tx1"/>
                </a:solidFill>
                <a:latin typeface="Arial" pitchFamily="34" charset="0"/>
                <a:ea typeface="Arial" pitchFamily="34" charset="-122"/>
                <a:cs typeface="Arial" pitchFamily="34" charset="-120"/>
              </a:rPr>
              <a:t>Three attacks. One hour to respond.</a:t>
            </a:r>
            <a:endParaRPr lang="en-US" sz="2400" dirty="0"/>
          </a:p>
        </p:txBody>
      </p:sp>
      <p:sp>
        <p:nvSpPr>
          <p:cNvPr id="4" name="Text 2"/>
          <p:cNvSpPr txBox="1"/>
          <p:nvPr/>
        </p:nvSpPr>
        <p:spPr>
          <a:xfrm>
            <a:off x="548640" y="2468880"/>
            <a:ext cx="6035040" cy="2286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Arial" pitchFamily="34" charset="0"/>
                <a:ea typeface="Arial" pitchFamily="34" charset="-122"/>
                <a:cs typeface="Arial" pitchFamily="34" charset="-120"/>
              </a:rPr>
              <a:t>Our SOC engineers are based in 4 cities: Cairo, Alexandria, Aswan and Luxor.</a:t>
            </a:r>
            <a:endParaRPr lang="en-US" sz="1600" dirty="0"/>
          </a:p>
          <a:p>
            <a:pPr marL="342900" indent="-342900">
              <a:spcAft>
                <a:spcPts val="1000"/>
              </a:spcAft>
              <a:buSzPct val="100000"/>
              <a:buChar char="•"/>
            </a:pPr>
            <a:r>
              <a:rPr lang="en-US" sz="1600" dirty="0">
                <a:solidFill>
                  <a:schemeClr val="tx1"/>
                </a:solidFill>
                <a:latin typeface="Arial" pitchFamily="34" charset="0"/>
                <a:ea typeface="Arial" pitchFamily="34" charset="-122"/>
                <a:cs typeface="Arial" pitchFamily="34" charset="-120"/>
              </a:rPr>
              <a:t>Alerts keep arriving from 10 client sites in other governorates (bank, hospital, telecom and more), and each one needs engineers on site.</a:t>
            </a:r>
            <a:endParaRPr lang="en-US" sz="1600" dirty="0"/>
          </a:p>
          <a:p>
            <a:pPr marL="342900" indent="-342900">
              <a:spcAft>
                <a:spcPts val="1000"/>
              </a:spcAft>
              <a:buSzPct val="100000"/>
              <a:buChar char="•"/>
            </a:pPr>
            <a:r>
              <a:rPr lang="en-US" sz="1600" dirty="0">
                <a:solidFill>
                  <a:schemeClr val="tx1"/>
                </a:solidFill>
                <a:latin typeface="Arial" pitchFamily="34" charset="0"/>
                <a:ea typeface="Arial" pitchFamily="34" charset="-122"/>
                <a:cs typeface="Arial" pitchFamily="34" charset="-120"/>
              </a:rPr>
              <a:t>Every engineer sent has a cost: travel time, incident priority and skill fit (EGP).</a:t>
            </a:r>
            <a:endParaRPr lang="en-US" sz="1600" dirty="0"/>
          </a:p>
        </p:txBody>
      </p:sp>
      <p:sp>
        <p:nvSpPr>
          <p:cNvPr id="5" name="Decision card"/>
          <p:cNvSpPr/>
          <p:nvPr/>
        </p:nvSpPr>
        <p:spPr>
          <a:xfrm>
            <a:off x="548640" y="4937760"/>
            <a:ext cx="6035040" cy="1143000"/>
          </a:xfrm>
          <a:prstGeom prst="roundRect">
            <a:avLst>
              <a:gd name="adj" fmla="val 9600"/>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822960" y="5120640"/>
            <a:ext cx="5486400" cy="274320"/>
          </a:xfrm>
          <a:prstGeom prst="rect">
            <a:avLst/>
          </a:prstGeom>
          <a:noFill/>
          <a:ln/>
        </p:spPr>
        <p:txBody>
          <a:bodyPr wrap="square" lIns="0" tIns="0" rIns="0" bIns="0" rtlCol="0" anchor="t"/>
          <a:lstStyle/>
          <a:p>
            <a:pPr marL="0" indent="0">
              <a:buNone/>
            </a:pPr>
            <a:r>
              <a:rPr lang="en-US" sz="1200" b="1" kern="0" spc="300" dirty="0">
                <a:solidFill>
                  <a:schemeClr val="bg1"/>
                </a:solidFill>
                <a:latin typeface="Arial" pitchFamily="34" charset="0"/>
                <a:ea typeface="Arial" pitchFamily="34" charset="-122"/>
                <a:cs typeface="Arial" pitchFamily="34" charset="-120"/>
              </a:rPr>
              <a:t>DECISION QUESTION</a:t>
            </a:r>
            <a:endParaRPr lang="en-US" sz="1200" dirty="0"/>
          </a:p>
        </p:txBody>
      </p:sp>
      <p:sp>
        <p:nvSpPr>
          <p:cNvPr id="7" name="Text 5"/>
          <p:cNvSpPr txBox="1"/>
          <p:nvPr/>
        </p:nvSpPr>
        <p:spPr>
          <a:xfrm>
            <a:off x="822960" y="5440680"/>
            <a:ext cx="5669280" cy="45720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Who should go where, at what total cost?</a:t>
            </a:r>
            <a:endParaRPr lang="en-US" sz="2000" dirty="0"/>
          </a:p>
        </p:txBody>
      </p:sp>
      <p:sp>
        <p:nvSpPr>
          <p:cNvPr id="8" name="Incident card 1"/>
          <p:cNvSpPr/>
          <p:nvPr/>
        </p:nvSpPr>
        <p:spPr>
          <a:xfrm>
            <a:off x="7040880" y="1874520"/>
            <a:ext cx="4599432" cy="1188720"/>
          </a:xfrm>
          <a:prstGeom prst="roundRect">
            <a:avLst>
              <a:gd name="adj" fmla="val 9231"/>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9" name="Bank ransomware circle"/>
          <p:cNvSpPr/>
          <p:nvPr/>
        </p:nvSpPr>
        <p:spPr>
          <a:xfrm>
            <a:off x="7315200" y="214884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0" name="Image 0" descr="Bank ransomware"/>
          <p:cNvPicPr>
            <a:picLocks noChangeAspect="1"/>
          </p:cNvPicPr>
          <p:nvPr/>
        </p:nvPicPr>
        <p:blipFill>
          <a:blip r:embed="rId3"/>
          <a:stretch>
            <a:fillRect/>
          </a:stretch>
        </p:blipFill>
        <p:spPr>
          <a:xfrm>
            <a:off x="7488022" y="2321662"/>
            <a:ext cx="294437" cy="294437"/>
          </a:xfrm>
          <a:prstGeom prst="rect">
            <a:avLst/>
          </a:prstGeom>
        </p:spPr>
      </p:pic>
      <p:sp>
        <p:nvSpPr>
          <p:cNvPr id="11" name="Text 8"/>
          <p:cNvSpPr txBox="1"/>
          <p:nvPr/>
        </p:nvSpPr>
        <p:spPr>
          <a:xfrm>
            <a:off x="8183880" y="2148840"/>
            <a:ext cx="32918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Bank ransomware</a:t>
            </a:r>
            <a:endParaRPr lang="en-US" sz="2000" dirty="0"/>
          </a:p>
        </p:txBody>
      </p:sp>
      <p:sp>
        <p:nvSpPr>
          <p:cNvPr id="12" name="Text 9"/>
          <p:cNvSpPr txBox="1"/>
          <p:nvPr/>
        </p:nvSpPr>
        <p:spPr>
          <a:xfrm>
            <a:off x="8183880" y="2532888"/>
            <a:ext cx="3291840" cy="32004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Core systems locked.</a:t>
            </a:r>
            <a:endParaRPr lang="en-US" sz="1400" dirty="0"/>
          </a:p>
        </p:txBody>
      </p:sp>
      <p:sp>
        <p:nvSpPr>
          <p:cNvPr id="13" name="Incident card 2"/>
          <p:cNvSpPr/>
          <p:nvPr/>
        </p:nvSpPr>
        <p:spPr>
          <a:xfrm>
            <a:off x="7040880" y="3291840"/>
            <a:ext cx="4599432" cy="1188720"/>
          </a:xfrm>
          <a:prstGeom prst="roundRect">
            <a:avLst>
              <a:gd name="adj" fmla="val 9231"/>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4" name="Hospital data breach circle"/>
          <p:cNvSpPr/>
          <p:nvPr/>
        </p:nvSpPr>
        <p:spPr>
          <a:xfrm>
            <a:off x="7315200" y="356616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5" name="Image 1" descr="Hospital data breach"/>
          <p:cNvPicPr>
            <a:picLocks noChangeAspect="1"/>
          </p:cNvPicPr>
          <p:nvPr/>
        </p:nvPicPr>
        <p:blipFill>
          <a:blip r:embed="rId4"/>
          <a:stretch>
            <a:fillRect/>
          </a:stretch>
        </p:blipFill>
        <p:spPr>
          <a:xfrm>
            <a:off x="7488022" y="3738982"/>
            <a:ext cx="294437" cy="294437"/>
          </a:xfrm>
          <a:prstGeom prst="rect">
            <a:avLst/>
          </a:prstGeom>
        </p:spPr>
      </p:pic>
      <p:sp>
        <p:nvSpPr>
          <p:cNvPr id="16" name="Text 12"/>
          <p:cNvSpPr txBox="1"/>
          <p:nvPr/>
        </p:nvSpPr>
        <p:spPr>
          <a:xfrm>
            <a:off x="8183880" y="3566160"/>
            <a:ext cx="32918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Hospital data breach</a:t>
            </a:r>
            <a:endParaRPr lang="en-US" sz="2000" dirty="0"/>
          </a:p>
        </p:txBody>
      </p:sp>
      <p:sp>
        <p:nvSpPr>
          <p:cNvPr id="17" name="Text 13"/>
          <p:cNvSpPr txBox="1"/>
          <p:nvPr/>
        </p:nvSpPr>
        <p:spPr>
          <a:xfrm>
            <a:off x="8183880" y="3950208"/>
            <a:ext cx="3291840" cy="32004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Patient records exposed.</a:t>
            </a:r>
            <a:endParaRPr lang="en-US" sz="1400" dirty="0"/>
          </a:p>
        </p:txBody>
      </p:sp>
      <p:sp>
        <p:nvSpPr>
          <p:cNvPr id="18" name="Incident card 3"/>
          <p:cNvSpPr/>
          <p:nvPr/>
        </p:nvSpPr>
        <p:spPr>
          <a:xfrm>
            <a:off x="7040880" y="4709160"/>
            <a:ext cx="4599432" cy="1188720"/>
          </a:xfrm>
          <a:prstGeom prst="roundRect">
            <a:avLst>
              <a:gd name="adj" fmla="val 9231"/>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9" name="E-commerce DDoS circle"/>
          <p:cNvSpPr/>
          <p:nvPr/>
        </p:nvSpPr>
        <p:spPr>
          <a:xfrm>
            <a:off x="7315200" y="498348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20" name="Image 2" descr="E-commerce DDoS"/>
          <p:cNvPicPr>
            <a:picLocks noChangeAspect="1"/>
          </p:cNvPicPr>
          <p:nvPr/>
        </p:nvPicPr>
        <p:blipFill>
          <a:blip r:embed="rId5"/>
          <a:stretch>
            <a:fillRect/>
          </a:stretch>
        </p:blipFill>
        <p:spPr>
          <a:xfrm>
            <a:off x="7488022" y="5156302"/>
            <a:ext cx="294437" cy="294437"/>
          </a:xfrm>
          <a:prstGeom prst="rect">
            <a:avLst/>
          </a:prstGeom>
        </p:spPr>
      </p:pic>
      <p:sp>
        <p:nvSpPr>
          <p:cNvPr id="21" name="Text 16"/>
          <p:cNvSpPr txBox="1"/>
          <p:nvPr/>
        </p:nvSpPr>
        <p:spPr>
          <a:xfrm>
            <a:off x="8183880" y="4983480"/>
            <a:ext cx="329184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E-commerce DDoS</a:t>
            </a:r>
            <a:endParaRPr lang="en-US" sz="2000" dirty="0"/>
          </a:p>
        </p:txBody>
      </p:sp>
      <p:sp>
        <p:nvSpPr>
          <p:cNvPr id="22" name="Text 17"/>
          <p:cNvSpPr txBox="1"/>
          <p:nvPr/>
        </p:nvSpPr>
        <p:spPr>
          <a:xfrm>
            <a:off x="8183880" y="5367528"/>
            <a:ext cx="3291840" cy="32004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The storefront is offline.</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PROBLEM DEFINITION</a:t>
            </a:r>
            <a:endParaRPr lang="en-US" sz="3600" dirty="0"/>
          </a:p>
        </p:txBody>
      </p:sp>
      <p:sp>
        <p:nvSpPr>
          <p:cNvPr id="3" name="Text 1"/>
          <p:cNvSpPr txBox="1"/>
          <p:nvPr/>
        </p:nvSpPr>
        <p:spPr>
          <a:xfrm>
            <a:off x="548640" y="1847462"/>
            <a:ext cx="11091672" cy="59436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We treat incident response as a transportation problem: SOC hubs are the sources, alerting client sites are the destinations.</a:t>
            </a:r>
            <a:endParaRPr lang="en-US" sz="1600" dirty="0"/>
          </a:p>
        </p:txBody>
      </p:sp>
      <p:sp>
        <p:nvSpPr>
          <p:cNvPr id="4" name="Stat card 1"/>
          <p:cNvSpPr/>
          <p:nvPr/>
        </p:nvSpPr>
        <p:spPr>
          <a:xfrm>
            <a:off x="548640" y="2514600"/>
            <a:ext cx="3511296" cy="1508760"/>
          </a:xfrm>
          <a:prstGeom prst="roundRect">
            <a:avLst>
              <a:gd name="adj" fmla="val 7273"/>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5" name="Text 3"/>
          <p:cNvSpPr txBox="1"/>
          <p:nvPr/>
        </p:nvSpPr>
        <p:spPr>
          <a:xfrm>
            <a:off x="777240" y="2633472"/>
            <a:ext cx="3108960" cy="594360"/>
          </a:xfrm>
          <a:prstGeom prst="rect">
            <a:avLst/>
          </a:prstGeom>
          <a:noFill/>
          <a:ln/>
        </p:spPr>
        <p:txBody>
          <a:bodyPr wrap="square" lIns="0" tIns="0" rIns="0" bIns="0" rtlCol="0" anchor="ctr"/>
          <a:lstStyle/>
          <a:p>
            <a:pPr marL="0" indent="0">
              <a:buNone/>
            </a:pPr>
            <a:r>
              <a:rPr lang="en-US" sz="3600" b="1" dirty="0">
                <a:solidFill>
                  <a:schemeClr val="accent1"/>
                </a:solidFill>
                <a:latin typeface="Arial" pitchFamily="34" charset="0"/>
                <a:ea typeface="Arial" pitchFamily="34" charset="-122"/>
                <a:cs typeface="Arial" pitchFamily="34" charset="-120"/>
              </a:rPr>
              <a:t>4</a:t>
            </a:r>
            <a:r>
              <a:rPr lang="en-US" sz="1600" b="1" dirty="0">
                <a:solidFill>
                  <a:schemeClr val="tx1"/>
                </a:solidFill>
                <a:latin typeface="Arial" pitchFamily="34" charset="0"/>
                <a:ea typeface="Arial" pitchFamily="34" charset="-122"/>
                <a:cs typeface="Arial" pitchFamily="34" charset="-120"/>
              </a:rPr>
              <a:t>  SOC hubs</a:t>
            </a:r>
            <a:endParaRPr lang="en-US" sz="3600" dirty="0"/>
          </a:p>
        </p:txBody>
      </p:sp>
      <p:sp>
        <p:nvSpPr>
          <p:cNvPr id="6" name="Text 4"/>
          <p:cNvSpPr txBox="1"/>
          <p:nvPr/>
        </p:nvSpPr>
        <p:spPr>
          <a:xfrm>
            <a:off x="777240" y="3246120"/>
            <a:ext cx="3178940" cy="685800"/>
          </a:xfrm>
          <a:prstGeom prst="rect">
            <a:avLst/>
          </a:prstGeom>
          <a:noFill/>
          <a:ln/>
        </p:spPr>
        <p:txBody>
          <a:bodyPr wrap="square" lIns="0" tIns="0" rIns="0" bIns="0" rtlCol="0" anchor="t"/>
          <a:lstStyle/>
          <a:p>
            <a:r>
              <a:rPr lang="en-US" sz="1100" dirty="0">
                <a:solidFill>
                  <a:schemeClr val="tx2"/>
                </a:solidFill>
                <a:latin typeface="Arial" pitchFamily="34" charset="0"/>
                <a:ea typeface="Arial" pitchFamily="34" charset="-122"/>
                <a:cs typeface="Arial" pitchFamily="34" charset="-120"/>
              </a:rPr>
              <a:t>Company 1 · Company 2 · Company 3 ·   Company 4</a:t>
            </a:r>
            <a:endParaRPr lang="en-US" sz="1100" dirty="0"/>
          </a:p>
        </p:txBody>
      </p:sp>
      <p:sp>
        <p:nvSpPr>
          <p:cNvPr id="7" name="Stat card 2"/>
          <p:cNvSpPr/>
          <p:nvPr/>
        </p:nvSpPr>
        <p:spPr>
          <a:xfrm>
            <a:off x="4338828" y="2514600"/>
            <a:ext cx="3511296" cy="1508760"/>
          </a:xfrm>
          <a:prstGeom prst="roundRect">
            <a:avLst>
              <a:gd name="adj" fmla="val 7273"/>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6"/>
          <p:cNvSpPr txBox="1"/>
          <p:nvPr/>
        </p:nvSpPr>
        <p:spPr>
          <a:xfrm>
            <a:off x="4567428" y="2633472"/>
            <a:ext cx="3108960" cy="594360"/>
          </a:xfrm>
          <a:prstGeom prst="rect">
            <a:avLst/>
          </a:prstGeom>
          <a:noFill/>
          <a:ln/>
        </p:spPr>
        <p:txBody>
          <a:bodyPr wrap="square" lIns="0" tIns="0" rIns="0" bIns="0" rtlCol="0" anchor="ctr"/>
          <a:lstStyle/>
          <a:p>
            <a:pPr marL="0" indent="0">
              <a:buNone/>
            </a:pPr>
            <a:r>
              <a:rPr lang="en-US" sz="3600" b="1" dirty="0">
                <a:solidFill>
                  <a:schemeClr val="accent1"/>
                </a:solidFill>
                <a:latin typeface="Arial" pitchFamily="34" charset="0"/>
                <a:ea typeface="Arial" pitchFamily="34" charset="-122"/>
                <a:cs typeface="Arial" pitchFamily="34" charset="-120"/>
              </a:rPr>
              <a:t>200</a:t>
            </a:r>
            <a:r>
              <a:rPr lang="en-US" sz="1600" b="1" dirty="0">
                <a:solidFill>
                  <a:schemeClr val="tx1"/>
                </a:solidFill>
                <a:latin typeface="Arial" pitchFamily="34" charset="0"/>
                <a:ea typeface="Arial" pitchFamily="34" charset="-122"/>
                <a:cs typeface="Arial" pitchFamily="34" charset="-120"/>
              </a:rPr>
              <a:t>  engineers (supply)</a:t>
            </a:r>
            <a:endParaRPr lang="en-US" sz="3600" dirty="0"/>
          </a:p>
        </p:txBody>
      </p:sp>
      <p:sp>
        <p:nvSpPr>
          <p:cNvPr id="9" name="Text 7"/>
          <p:cNvSpPr txBox="1"/>
          <p:nvPr/>
        </p:nvSpPr>
        <p:spPr>
          <a:xfrm>
            <a:off x="4567428" y="3246120"/>
            <a:ext cx="3108960" cy="685800"/>
          </a:xfrm>
          <a:prstGeom prst="rect">
            <a:avLst/>
          </a:prstGeom>
          <a:noFill/>
          <a:ln/>
        </p:spPr>
        <p:txBody>
          <a:bodyPr wrap="square" lIns="0" tIns="0" rIns="0" bIns="0" rtlCol="0" anchor="t"/>
          <a:lstStyle/>
          <a:p>
            <a:r>
              <a:rPr lang="en-US" sz="1100" dirty="0">
                <a:solidFill>
                  <a:schemeClr val="tx2"/>
                </a:solidFill>
                <a:latin typeface="Arial" pitchFamily="34" charset="0"/>
                <a:ea typeface="Arial" pitchFamily="34" charset="-122"/>
                <a:cs typeface="Arial" pitchFamily="34" charset="-120"/>
              </a:rPr>
              <a:t>Company 1 : 40 · Company 2 : 60 · </a:t>
            </a:r>
          </a:p>
          <a:p>
            <a:r>
              <a:rPr lang="en-US" sz="1100" dirty="0">
                <a:solidFill>
                  <a:schemeClr val="tx2"/>
                </a:solidFill>
                <a:latin typeface="Arial" pitchFamily="34" charset="0"/>
                <a:ea typeface="Arial" pitchFamily="34" charset="-122"/>
                <a:cs typeface="Arial" pitchFamily="34" charset="-120"/>
              </a:rPr>
              <a:t>Company 3 : 50 · Company 4 : 50</a:t>
            </a:r>
            <a:endParaRPr lang="en-US" sz="1100" dirty="0"/>
          </a:p>
        </p:txBody>
      </p:sp>
      <p:sp>
        <p:nvSpPr>
          <p:cNvPr id="10" name="Stat card 3"/>
          <p:cNvSpPr/>
          <p:nvPr/>
        </p:nvSpPr>
        <p:spPr>
          <a:xfrm>
            <a:off x="8129016" y="2514600"/>
            <a:ext cx="3511296" cy="1508760"/>
          </a:xfrm>
          <a:prstGeom prst="roundRect">
            <a:avLst>
              <a:gd name="adj" fmla="val 7273"/>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1" name="Text 9"/>
          <p:cNvSpPr txBox="1"/>
          <p:nvPr/>
        </p:nvSpPr>
        <p:spPr>
          <a:xfrm>
            <a:off x="8357616" y="2633472"/>
            <a:ext cx="3108960" cy="594360"/>
          </a:xfrm>
          <a:prstGeom prst="rect">
            <a:avLst/>
          </a:prstGeom>
          <a:noFill/>
          <a:ln/>
        </p:spPr>
        <p:txBody>
          <a:bodyPr wrap="square" lIns="0" tIns="0" rIns="0" bIns="0" rtlCol="0" anchor="ctr"/>
          <a:lstStyle/>
          <a:p>
            <a:pPr marL="0" indent="0">
              <a:buNone/>
            </a:pPr>
            <a:r>
              <a:rPr lang="en-US" sz="3600" b="1" dirty="0">
                <a:solidFill>
                  <a:schemeClr val="accent1"/>
                </a:solidFill>
                <a:latin typeface="Arial" pitchFamily="34" charset="0"/>
                <a:ea typeface="Arial" pitchFamily="34" charset="-122"/>
                <a:cs typeface="Arial" pitchFamily="34" charset="-120"/>
              </a:rPr>
              <a:t>10</a:t>
            </a:r>
            <a:r>
              <a:rPr lang="en-US" sz="1600" b="1" dirty="0">
                <a:solidFill>
                  <a:schemeClr val="tx1"/>
                </a:solidFill>
                <a:latin typeface="Arial" pitchFamily="34" charset="0"/>
                <a:ea typeface="Arial" pitchFamily="34" charset="-122"/>
                <a:cs typeface="Arial" pitchFamily="34" charset="-120"/>
              </a:rPr>
              <a:t>  alert sites (demand)</a:t>
            </a:r>
            <a:endParaRPr lang="en-US" sz="3600" dirty="0"/>
          </a:p>
        </p:txBody>
      </p:sp>
      <p:sp>
        <p:nvSpPr>
          <p:cNvPr id="12" name="Text 10"/>
          <p:cNvSpPr txBox="1"/>
          <p:nvPr/>
        </p:nvSpPr>
        <p:spPr>
          <a:xfrm>
            <a:off x="8357616" y="3246120"/>
            <a:ext cx="3108960" cy="68580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Bank · Hospital · Store · Telecom · University · Insurance · Airline · Factory · Ministry · Media</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2286772014"/>
              </p:ext>
            </p:extLst>
          </p:nvPr>
        </p:nvGraphicFramePr>
        <p:xfrm>
          <a:off x="548640" y="4251960"/>
          <a:ext cx="11091672" cy="1828800"/>
        </p:xfrm>
        <a:graphic>
          <a:graphicData uri="http://schemas.openxmlformats.org/drawingml/2006/table">
            <a:tbl>
              <a:tblPr/>
              <a:tblGrid>
                <a:gridCol w="2743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365760">
                <a:tc>
                  <a:txBody>
                    <a:bodyPr/>
                    <a:lstStyle/>
                    <a:p>
                      <a:pPr marL="0" indent="0">
                        <a:buNone/>
                      </a:pPr>
                      <a:r>
                        <a:rPr lang="en-US" sz="1400" b="1" dirty="0">
                          <a:solidFill>
                            <a:srgbClr val="FFFFFF"/>
                          </a:solidFill>
                          <a:latin typeface="Arial" pitchFamily="34" charset="0"/>
                          <a:ea typeface="Arial" pitchFamily="34" charset="-122"/>
                          <a:cs typeface="Arial" pitchFamily="34" charset="-120"/>
                        </a:rPr>
                        <a:t>SOC concept</a:t>
                      </a:r>
                      <a:endParaRPr lang="en-US" sz="14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Transportation model</a:t>
                      </a:r>
                      <a:endParaRPr lang="en-US" sz="14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Meaning in this case</a:t>
                      </a:r>
                      <a:endParaRPr lang="en-US" sz="14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1E1E2C"/>
                          </a:solidFill>
                          <a:latin typeface="Arial" pitchFamily="34" charset="0"/>
                          <a:ea typeface="Arial" pitchFamily="34" charset="-122"/>
                          <a:cs typeface="Arial" pitchFamily="34" charset="-120"/>
                        </a:rPr>
                        <a:t>SOC hubs</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Sources</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Engineers available per site</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1E1E2C"/>
                          </a:solidFill>
                          <a:latin typeface="Arial" pitchFamily="34" charset="0"/>
                          <a:ea typeface="Arial" pitchFamily="34" charset="-122"/>
                          <a:cs typeface="Arial" pitchFamily="34" charset="-120"/>
                        </a:rPr>
                        <a:t>Alert sites</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Destinations</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Engineers required per site</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1E1E2C"/>
                          </a:solidFill>
                          <a:latin typeface="Arial" pitchFamily="34" charset="0"/>
                          <a:ea typeface="Arial" pitchFamily="34" charset="-122"/>
                          <a:cs typeface="Arial" pitchFamily="34" charset="-120"/>
                        </a:rPr>
                        <a:t>Route burden</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Cost cij</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Time, priority and skill fit (EGP per engineer)</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1E1E2C"/>
                          </a:solidFill>
                          <a:latin typeface="Arial" pitchFamily="34" charset="0"/>
                          <a:ea typeface="Arial" pitchFamily="34" charset="-122"/>
                          <a:cs typeface="Arial" pitchFamily="34" charset="-120"/>
                        </a:rPr>
                        <a:t>Assignment</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Decision xij</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buNone/>
                      </a:pPr>
                      <a:r>
                        <a:rPr lang="en-US" sz="1300" dirty="0">
                          <a:solidFill>
                            <a:srgbClr val="1E1E2C"/>
                          </a:solidFill>
                          <a:latin typeface="Arial" pitchFamily="34" charset="0"/>
                          <a:ea typeface="Arial" pitchFamily="34" charset="-122"/>
                          <a:cs typeface="Arial" pitchFamily="34" charset="-120"/>
                        </a:rPr>
                        <a:t>Engineers sent from hub i to site j</a:t>
                      </a:r>
                      <a:endParaRPr lang="en-US" sz="1300" dirty="0">
                        <a:latin typeface="Arial" charset="0"/>
                        <a:ea typeface="Arial" charset="0"/>
                        <a:cs typeface="Arial" charset="0"/>
                      </a:endParaRPr>
                    </a:p>
                  </a:txBody>
                  <a:tcPr marL="109728" marR="109728"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THE DATA: SUPPLY AND COST</a:t>
            </a:r>
            <a:endParaRPr lang="en-US" sz="3600" dirty="0"/>
          </a:p>
        </p:txBody>
      </p:sp>
      <p:sp>
        <p:nvSpPr>
          <p:cNvPr id="3" name="Text 1"/>
          <p:cNvSpPr txBox="1"/>
          <p:nvPr/>
        </p:nvSpPr>
        <p:spPr>
          <a:xfrm>
            <a:off x="548640" y="1783080"/>
            <a:ext cx="11091672" cy="36576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Unit cost (EGP per engineer) from each SOC hub to each alerting site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830856879"/>
              </p:ext>
            </p:extLst>
          </p:nvPr>
        </p:nvGraphicFramePr>
        <p:xfrm>
          <a:off x="548640" y="2286000"/>
          <a:ext cx="11091672" cy="2194560"/>
        </p:xfrm>
        <a:graphic>
          <a:graphicData uri="http://schemas.openxmlformats.org/drawingml/2006/table">
            <a:tbl>
              <a:tblPr/>
              <a:tblGrid>
                <a:gridCol w="1234440">
                  <a:extLst>
                    <a:ext uri="{9D8B030D-6E8A-4147-A177-3AD203B41FA5}">
                      <a16:colId xmlns:a16="http://schemas.microsoft.com/office/drawing/2014/main" val="20000"/>
                    </a:ext>
                  </a:extLst>
                </a:gridCol>
                <a:gridCol w="886968">
                  <a:extLst>
                    <a:ext uri="{9D8B030D-6E8A-4147-A177-3AD203B41FA5}">
                      <a16:colId xmlns:a16="http://schemas.microsoft.com/office/drawing/2014/main" val="20001"/>
                    </a:ext>
                  </a:extLst>
                </a:gridCol>
                <a:gridCol w="886968">
                  <a:extLst>
                    <a:ext uri="{9D8B030D-6E8A-4147-A177-3AD203B41FA5}">
                      <a16:colId xmlns:a16="http://schemas.microsoft.com/office/drawing/2014/main" val="20002"/>
                    </a:ext>
                  </a:extLst>
                </a:gridCol>
                <a:gridCol w="886968">
                  <a:extLst>
                    <a:ext uri="{9D8B030D-6E8A-4147-A177-3AD203B41FA5}">
                      <a16:colId xmlns:a16="http://schemas.microsoft.com/office/drawing/2014/main" val="20003"/>
                    </a:ext>
                  </a:extLst>
                </a:gridCol>
                <a:gridCol w="886968">
                  <a:extLst>
                    <a:ext uri="{9D8B030D-6E8A-4147-A177-3AD203B41FA5}">
                      <a16:colId xmlns:a16="http://schemas.microsoft.com/office/drawing/2014/main" val="20004"/>
                    </a:ext>
                  </a:extLst>
                </a:gridCol>
                <a:gridCol w="886968">
                  <a:extLst>
                    <a:ext uri="{9D8B030D-6E8A-4147-A177-3AD203B41FA5}">
                      <a16:colId xmlns:a16="http://schemas.microsoft.com/office/drawing/2014/main" val="20005"/>
                    </a:ext>
                  </a:extLst>
                </a:gridCol>
                <a:gridCol w="886968">
                  <a:extLst>
                    <a:ext uri="{9D8B030D-6E8A-4147-A177-3AD203B41FA5}">
                      <a16:colId xmlns:a16="http://schemas.microsoft.com/office/drawing/2014/main" val="20006"/>
                    </a:ext>
                  </a:extLst>
                </a:gridCol>
                <a:gridCol w="886968">
                  <a:extLst>
                    <a:ext uri="{9D8B030D-6E8A-4147-A177-3AD203B41FA5}">
                      <a16:colId xmlns:a16="http://schemas.microsoft.com/office/drawing/2014/main" val="20007"/>
                    </a:ext>
                  </a:extLst>
                </a:gridCol>
                <a:gridCol w="886968">
                  <a:extLst>
                    <a:ext uri="{9D8B030D-6E8A-4147-A177-3AD203B41FA5}">
                      <a16:colId xmlns:a16="http://schemas.microsoft.com/office/drawing/2014/main" val="20008"/>
                    </a:ext>
                  </a:extLst>
                </a:gridCol>
                <a:gridCol w="886968">
                  <a:extLst>
                    <a:ext uri="{9D8B030D-6E8A-4147-A177-3AD203B41FA5}">
                      <a16:colId xmlns:a16="http://schemas.microsoft.com/office/drawing/2014/main" val="20009"/>
                    </a:ext>
                  </a:extLst>
                </a:gridCol>
                <a:gridCol w="886968">
                  <a:extLst>
                    <a:ext uri="{9D8B030D-6E8A-4147-A177-3AD203B41FA5}">
                      <a16:colId xmlns:a16="http://schemas.microsoft.com/office/drawing/2014/main" val="20010"/>
                    </a:ext>
                  </a:extLst>
                </a:gridCol>
                <a:gridCol w="987552">
                  <a:extLst>
                    <a:ext uri="{9D8B030D-6E8A-4147-A177-3AD203B41FA5}">
                      <a16:colId xmlns:a16="http://schemas.microsoft.com/office/drawing/2014/main" val="20011"/>
                    </a:ext>
                  </a:extLst>
                </a:gridCol>
              </a:tblGrid>
              <a:tr h="548640">
                <a:tc>
                  <a:txBody>
                    <a:bodyPr/>
                    <a:lstStyle/>
                    <a:p>
                      <a:pPr marL="0" indent="0">
                        <a:buNone/>
                      </a:pPr>
                      <a:r>
                        <a:rPr lang="en-US" sz="1100" b="1" dirty="0">
                          <a:solidFill>
                            <a:srgbClr val="FFFFFF"/>
                          </a:solidFill>
                          <a:latin typeface="Arial" pitchFamily="34" charset="0"/>
                          <a:ea typeface="Arial" pitchFamily="34" charset="-122"/>
                          <a:cs typeface="Arial" pitchFamily="34" charset="-120"/>
                        </a:rPr>
                        <a:t>Hub \ Site</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Bank</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Hospital</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Store</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Telecom</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University</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Insurance</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Airline</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Factory</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Ministry</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Media</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Supply</a:t>
                      </a:r>
                      <a:endParaRPr lang="en-US" sz="11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1D5FD1"/>
                    </a:solidFill>
                  </a:tcPr>
                </a:tc>
                <a:extLst>
                  <a:ext uri="{0D108BD9-81ED-4DB2-BD59-A6C34878D82A}">
                    <a16:rowId xmlns:a16="http://schemas.microsoft.com/office/drawing/2014/main" val="10000"/>
                  </a:ext>
                </a:extLst>
              </a:tr>
              <a:tr h="411480">
                <a:tc>
                  <a:txBody>
                    <a:bodyPr/>
                    <a:lstStyle/>
                    <a:p>
                      <a:pPr marL="0" indent="0">
                        <a:buNone/>
                      </a:pPr>
                      <a:r>
                        <a:rPr lang="en-US" sz="1300" b="1" dirty="0">
                          <a:solidFill>
                            <a:srgbClr val="1E1E2C"/>
                          </a:solidFill>
                          <a:latin typeface="Arial" pitchFamily="34" charset="0"/>
                          <a:ea typeface="Arial" pitchFamily="34" charset="-122"/>
                          <a:cs typeface="Arial" pitchFamily="34" charset="-120"/>
                        </a:rPr>
                        <a:t>Company 1</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B3A8C"/>
                          </a:solidFill>
                          <a:latin typeface="Arial" pitchFamily="34" charset="0"/>
                          <a:ea typeface="Arial" pitchFamily="34" charset="-122"/>
                          <a:cs typeface="Arial" pitchFamily="34" charset="-120"/>
                        </a:rPr>
                        <a:t>40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DCE8FB"/>
                    </a:solidFill>
                  </a:tcPr>
                </a:tc>
                <a:extLst>
                  <a:ext uri="{0D108BD9-81ED-4DB2-BD59-A6C34878D82A}">
                    <a16:rowId xmlns:a16="http://schemas.microsoft.com/office/drawing/2014/main" val="10001"/>
                  </a:ext>
                </a:extLst>
              </a:tr>
              <a:tr h="411480">
                <a:tc>
                  <a:txBody>
                    <a:bodyPr/>
                    <a:lstStyle/>
                    <a:p>
                      <a:pPr marL="0" indent="0">
                        <a:buNone/>
                      </a:pPr>
                      <a:r>
                        <a:rPr lang="en-US" sz="1300" b="1" dirty="0">
                          <a:solidFill>
                            <a:srgbClr val="1E1E2C"/>
                          </a:solidFill>
                          <a:latin typeface="Arial" pitchFamily="34" charset="0"/>
                          <a:ea typeface="Arial" pitchFamily="34" charset="-122"/>
                          <a:cs typeface="Arial" pitchFamily="34" charset="-120"/>
                        </a:rPr>
                        <a:t>Company 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16</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B3A8C"/>
                          </a:solidFill>
                          <a:latin typeface="Arial" pitchFamily="34" charset="0"/>
                          <a:ea typeface="Arial" pitchFamily="34" charset="-122"/>
                          <a:cs typeface="Arial" pitchFamily="34" charset="-120"/>
                        </a:rPr>
                        <a:t>60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DCE8FB"/>
                    </a:solidFill>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1E1E2C"/>
                          </a:solidFill>
                          <a:latin typeface="Arial" pitchFamily="34" charset="0"/>
                          <a:ea typeface="Arial" pitchFamily="34" charset="-122"/>
                          <a:cs typeface="Arial" pitchFamily="34" charset="-120"/>
                        </a:rPr>
                        <a:t>Company 3</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18</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13</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19</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22</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21</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B3A8C"/>
                          </a:solidFill>
                          <a:latin typeface="Arial" pitchFamily="34" charset="0"/>
                          <a:ea typeface="Arial" pitchFamily="34" charset="-122"/>
                          <a:cs typeface="Arial" pitchFamily="34" charset="-120"/>
                        </a:rPr>
                        <a:t>50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DCE8FB"/>
                    </a:solidFill>
                  </a:tcPr>
                </a:tc>
                <a:extLst>
                  <a:ext uri="{0D108BD9-81ED-4DB2-BD59-A6C34878D82A}">
                    <a16:rowId xmlns:a16="http://schemas.microsoft.com/office/drawing/2014/main" val="10003"/>
                  </a:ext>
                </a:extLst>
              </a:tr>
              <a:tr h="411480">
                <a:tc>
                  <a:txBody>
                    <a:bodyPr/>
                    <a:lstStyle/>
                    <a:p>
                      <a:pPr marL="0" indent="0">
                        <a:buNone/>
                      </a:pPr>
                      <a:r>
                        <a:rPr lang="en-US" sz="1300" b="1" dirty="0">
                          <a:solidFill>
                            <a:srgbClr val="1E1E2C"/>
                          </a:solidFill>
                          <a:latin typeface="Arial" pitchFamily="34" charset="0"/>
                          <a:ea typeface="Arial" pitchFamily="34" charset="-122"/>
                          <a:cs typeface="Arial" pitchFamily="34" charset="-120"/>
                        </a:rPr>
                        <a:t>Company 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13</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15</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15</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16</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18</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1E2C"/>
                          </a:solidFill>
                          <a:latin typeface="Arial" pitchFamily="34" charset="0"/>
                          <a:ea typeface="Arial" pitchFamily="34" charset="-122"/>
                          <a:cs typeface="Arial" pitchFamily="34" charset="-120"/>
                        </a:rPr>
                        <a:t>17</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B3A8C"/>
                          </a:solidFill>
                          <a:latin typeface="Arial" pitchFamily="34" charset="0"/>
                          <a:ea typeface="Arial" pitchFamily="34" charset="-122"/>
                          <a:cs typeface="Arial" pitchFamily="34" charset="-120"/>
                        </a:rPr>
                        <a:t>50</a:t>
                      </a:r>
                      <a:endParaRPr lang="en-US" sz="1300" dirty="0">
                        <a:latin typeface="Arial" charset="0"/>
                        <a:ea typeface="Arial" charset="0"/>
                        <a:cs typeface="Arial" charset="0"/>
                      </a:endParaRPr>
                    </a:p>
                  </a:txBody>
                  <a:tcPr marR="45720" marT="0" marB="0" anchor="ctr">
                    <a:lnL w="9525" cap="flat" cmpd="sng" algn="ctr">
                      <a:solidFill>
                        <a:srgbClr val="C9D9F2"/>
                      </a:solidFill>
                      <a:prstDash val="solid"/>
                      <a:round/>
                      <a:headEnd type="none" w="med" len="med"/>
                      <a:tailEnd type="none" w="med" len="med"/>
                    </a:lnL>
                    <a:lnR w="9525" cap="flat" cmpd="sng" algn="ctr">
                      <a:solidFill>
                        <a:srgbClr val="C9D9F2"/>
                      </a:solidFill>
                      <a:prstDash val="solid"/>
                      <a:round/>
                      <a:headEnd type="none" w="med" len="med"/>
                      <a:tailEnd type="none" w="med" len="med"/>
                    </a:lnR>
                    <a:lnT w="9525" cap="flat" cmpd="sng" algn="ctr">
                      <a:solidFill>
                        <a:srgbClr val="C9D9F2"/>
                      </a:solidFill>
                      <a:prstDash val="solid"/>
                      <a:round/>
                      <a:headEnd type="none" w="med" len="med"/>
                      <a:tailEnd type="none" w="med" len="med"/>
                    </a:lnT>
                    <a:lnB w="9525" cap="flat" cmpd="sng" algn="ctr">
                      <a:solidFill>
                        <a:srgbClr val="C9D9F2"/>
                      </a:solidFill>
                      <a:prstDash val="solid"/>
                      <a:round/>
                      <a:headEnd type="none" w="med" len="med"/>
                      <a:tailEnd type="none" w="med" len="med"/>
                    </a:lnB>
                    <a:solidFill>
                      <a:srgbClr val="DCE8FB"/>
                    </a:solidFill>
                  </a:tcPr>
                </a:tc>
                <a:extLst>
                  <a:ext uri="{0D108BD9-81ED-4DB2-BD59-A6C34878D82A}">
                    <a16:rowId xmlns:a16="http://schemas.microsoft.com/office/drawing/2014/main" val="10004"/>
                  </a:ext>
                </a:extLst>
              </a:tr>
            </a:tbl>
          </a:graphicData>
        </a:graphic>
      </p:graphicFrame>
      <p:sp>
        <p:nvSpPr>
          <p:cNvPr id="5" name="Scenario card 1"/>
          <p:cNvSpPr/>
          <p:nvPr/>
        </p:nvSpPr>
        <p:spPr>
          <a:xfrm>
            <a:off x="548640" y="4709160"/>
            <a:ext cx="3511296" cy="1325880"/>
          </a:xfrm>
          <a:prstGeom prst="roundRect">
            <a:avLst>
              <a:gd name="adj" fmla="val 8276"/>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4" name="Text 3"/>
          <p:cNvSpPr txBox="1"/>
          <p:nvPr/>
        </p:nvSpPr>
        <p:spPr>
          <a:xfrm>
            <a:off x="777240" y="4846320"/>
            <a:ext cx="3108960" cy="27432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Arial" pitchFamily="34" charset="0"/>
                <a:ea typeface="Arial" pitchFamily="34" charset="-122"/>
                <a:cs typeface="Arial" pitchFamily="34" charset="-120"/>
              </a:rPr>
              <a:t>SCENARIO 1</a:t>
            </a:r>
            <a:endParaRPr lang="en-US" sz="1200" dirty="0"/>
          </a:p>
        </p:txBody>
      </p:sp>
      <p:sp>
        <p:nvSpPr>
          <p:cNvPr id="7" name="Text 4"/>
          <p:cNvSpPr txBox="1"/>
          <p:nvPr/>
        </p:nvSpPr>
        <p:spPr>
          <a:xfrm>
            <a:off x="777240" y="5138928"/>
            <a:ext cx="3108960"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Demand &gt; Supply</a:t>
            </a:r>
            <a:endParaRPr lang="en-US" sz="2200" dirty="0"/>
          </a:p>
        </p:txBody>
      </p:sp>
      <p:sp>
        <p:nvSpPr>
          <p:cNvPr id="8" name="Text 5"/>
          <p:cNvSpPr txBox="1"/>
          <p:nvPr/>
        </p:nvSpPr>
        <p:spPr>
          <a:xfrm>
            <a:off x="777240" y="5596128"/>
            <a:ext cx="3108960" cy="32004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Demand 220 vs supply 200</a:t>
            </a:r>
            <a:endParaRPr lang="en-US" sz="1400" dirty="0"/>
          </a:p>
        </p:txBody>
      </p:sp>
      <p:sp>
        <p:nvSpPr>
          <p:cNvPr id="9" name="Scenario card 2"/>
          <p:cNvSpPr/>
          <p:nvPr/>
        </p:nvSpPr>
        <p:spPr>
          <a:xfrm>
            <a:off x="4338828" y="4709160"/>
            <a:ext cx="3511296" cy="1325880"/>
          </a:xfrm>
          <a:prstGeom prst="roundRect">
            <a:avLst>
              <a:gd name="adj" fmla="val 8276"/>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0" name="Text 7"/>
          <p:cNvSpPr txBox="1"/>
          <p:nvPr/>
        </p:nvSpPr>
        <p:spPr>
          <a:xfrm>
            <a:off x="4567428" y="4846320"/>
            <a:ext cx="3108960" cy="27432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Arial" pitchFamily="34" charset="0"/>
                <a:ea typeface="Arial" pitchFamily="34" charset="-122"/>
                <a:cs typeface="Arial" pitchFamily="34" charset="-120"/>
              </a:rPr>
              <a:t>SCENARIO 2</a:t>
            </a:r>
            <a:endParaRPr lang="en-US" sz="1200" dirty="0"/>
          </a:p>
        </p:txBody>
      </p:sp>
      <p:sp>
        <p:nvSpPr>
          <p:cNvPr id="11" name="Text 8"/>
          <p:cNvSpPr txBox="1"/>
          <p:nvPr/>
        </p:nvSpPr>
        <p:spPr>
          <a:xfrm>
            <a:off x="4567428" y="5138928"/>
            <a:ext cx="3108960"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Supply &gt; Demand</a:t>
            </a:r>
            <a:endParaRPr lang="en-US" sz="2200" dirty="0"/>
          </a:p>
        </p:txBody>
      </p:sp>
      <p:sp>
        <p:nvSpPr>
          <p:cNvPr id="12" name="Text 9"/>
          <p:cNvSpPr txBox="1"/>
          <p:nvPr/>
        </p:nvSpPr>
        <p:spPr>
          <a:xfrm>
            <a:off x="4567428" y="5596128"/>
            <a:ext cx="3108960" cy="32004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Demand 180 vs supply 200</a:t>
            </a:r>
            <a:endParaRPr lang="en-US" sz="1400" dirty="0"/>
          </a:p>
        </p:txBody>
      </p:sp>
      <p:sp>
        <p:nvSpPr>
          <p:cNvPr id="13" name="Scenario card 3"/>
          <p:cNvSpPr/>
          <p:nvPr/>
        </p:nvSpPr>
        <p:spPr>
          <a:xfrm>
            <a:off x="8129016" y="4709160"/>
            <a:ext cx="3511296" cy="1325880"/>
          </a:xfrm>
          <a:prstGeom prst="roundRect">
            <a:avLst>
              <a:gd name="adj" fmla="val 8276"/>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4" name="Text 11"/>
          <p:cNvSpPr txBox="1"/>
          <p:nvPr/>
        </p:nvSpPr>
        <p:spPr>
          <a:xfrm>
            <a:off x="8357616" y="4846320"/>
            <a:ext cx="3108960" cy="27432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Arial" pitchFamily="34" charset="0"/>
                <a:ea typeface="Arial" pitchFamily="34" charset="-122"/>
                <a:cs typeface="Arial" pitchFamily="34" charset="-120"/>
              </a:rPr>
              <a:t>SCENARIO 3</a:t>
            </a:r>
            <a:endParaRPr lang="en-US" sz="1200" dirty="0"/>
          </a:p>
        </p:txBody>
      </p:sp>
      <p:sp>
        <p:nvSpPr>
          <p:cNvPr id="15" name="Text 12"/>
          <p:cNvSpPr txBox="1"/>
          <p:nvPr/>
        </p:nvSpPr>
        <p:spPr>
          <a:xfrm>
            <a:off x="8357616" y="5138928"/>
            <a:ext cx="3108960" cy="41148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Balanced</a:t>
            </a:r>
            <a:endParaRPr lang="en-US" sz="2200" dirty="0"/>
          </a:p>
        </p:txBody>
      </p:sp>
      <p:sp>
        <p:nvSpPr>
          <p:cNvPr id="16" name="Text 13"/>
          <p:cNvSpPr txBox="1"/>
          <p:nvPr/>
        </p:nvSpPr>
        <p:spPr>
          <a:xfrm>
            <a:off x="8357616" y="5596128"/>
            <a:ext cx="3108960" cy="32004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Demand 200 vs supply 200</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MATHEMATICAL FORMULATION</a:t>
            </a:r>
            <a:endParaRPr lang="en-US" sz="3600" dirty="0"/>
          </a:p>
        </p:txBody>
      </p:sp>
      <p:sp>
        <p:nvSpPr>
          <p:cNvPr id="3" name="Formula card"/>
          <p:cNvSpPr/>
          <p:nvPr/>
        </p:nvSpPr>
        <p:spPr>
          <a:xfrm>
            <a:off x="548640" y="1874520"/>
            <a:ext cx="6400800" cy="4206240"/>
          </a:xfrm>
          <a:prstGeom prst="roundRect">
            <a:avLst>
              <a:gd name="adj" fmla="val 2609"/>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4" name="Text 2"/>
          <p:cNvSpPr txBox="1"/>
          <p:nvPr/>
        </p:nvSpPr>
        <p:spPr>
          <a:xfrm>
            <a:off x="868680" y="2103120"/>
            <a:ext cx="5760720" cy="640080"/>
          </a:xfrm>
          <a:prstGeom prst="rect">
            <a:avLst/>
          </a:prstGeom>
          <a:noFill/>
          <a:ln/>
        </p:spPr>
        <p:txBody>
          <a:bodyPr wrap="square" lIns="0" tIns="0" rIns="0" bIns="0" rtlCol="0" anchor="ctr"/>
          <a:lstStyle/>
          <a:p>
            <a:pPr marL="0" indent="0">
              <a:buNone/>
            </a:pPr>
            <a:r>
              <a:rPr lang="en-US" sz="2800" b="1" dirty="0">
                <a:solidFill>
                  <a:schemeClr val="accent1"/>
                </a:solidFill>
                <a:latin typeface="Arial" pitchFamily="34" charset="0"/>
                <a:ea typeface="Arial" pitchFamily="34" charset="-122"/>
                <a:cs typeface="Arial" pitchFamily="34" charset="-120"/>
              </a:rPr>
              <a:t>Minimize Z =  Σ Σ  c</a:t>
            </a:r>
            <a:r>
              <a:rPr lang="en-US" sz="2800" b="1" baseline="-40000" dirty="0">
                <a:solidFill>
                  <a:schemeClr val="accent1"/>
                </a:solidFill>
                <a:latin typeface="Arial" pitchFamily="34" charset="0"/>
                <a:ea typeface="Arial" pitchFamily="34" charset="-122"/>
                <a:cs typeface="Arial" pitchFamily="34" charset="-120"/>
              </a:rPr>
              <a:t>ij</a:t>
            </a:r>
            <a:r>
              <a:rPr lang="en-US" sz="2800" b="1" dirty="0">
                <a:solidFill>
                  <a:schemeClr val="accent1"/>
                </a:solidFill>
                <a:latin typeface="Arial" pitchFamily="34" charset="0"/>
                <a:ea typeface="Arial" pitchFamily="34" charset="-122"/>
                <a:cs typeface="Arial" pitchFamily="34" charset="-120"/>
              </a:rPr>
              <a:t> · x</a:t>
            </a:r>
            <a:r>
              <a:rPr lang="en-US" sz="2800" b="1" baseline="-40000" dirty="0">
                <a:solidFill>
                  <a:schemeClr val="accent1"/>
                </a:solidFill>
                <a:latin typeface="Arial" pitchFamily="34" charset="0"/>
                <a:ea typeface="Arial" pitchFamily="34" charset="-122"/>
                <a:cs typeface="Arial" pitchFamily="34" charset="-120"/>
              </a:rPr>
              <a:t>ij</a:t>
            </a:r>
            <a:endParaRPr lang="en-US" sz="2800" dirty="0"/>
          </a:p>
        </p:txBody>
      </p:sp>
      <p:sp>
        <p:nvSpPr>
          <p:cNvPr id="5" name="Text 3"/>
          <p:cNvSpPr txBox="1"/>
          <p:nvPr/>
        </p:nvSpPr>
        <p:spPr>
          <a:xfrm>
            <a:off x="868680" y="2971800"/>
            <a:ext cx="4572000" cy="27432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Arial" pitchFamily="34" charset="0"/>
                <a:ea typeface="Arial" pitchFamily="34" charset="-122"/>
                <a:cs typeface="Arial" pitchFamily="34" charset="-120"/>
              </a:rPr>
              <a:t>SUBJECT TO</a:t>
            </a:r>
            <a:endParaRPr lang="en-US" sz="1200" dirty="0"/>
          </a:p>
        </p:txBody>
      </p:sp>
      <p:sp>
        <p:nvSpPr>
          <p:cNvPr id="6" name="Text 4"/>
          <p:cNvSpPr txBox="1"/>
          <p:nvPr/>
        </p:nvSpPr>
        <p:spPr>
          <a:xfrm>
            <a:off x="868680" y="3383280"/>
            <a:ext cx="5760720" cy="45720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Σ</a:t>
            </a:r>
            <a:r>
              <a:rPr lang="en-US" sz="2000" baseline="-40000" dirty="0">
                <a:solidFill>
                  <a:schemeClr val="tx1"/>
                </a:solidFill>
                <a:latin typeface="Arial" pitchFamily="34" charset="0"/>
                <a:ea typeface="Arial" pitchFamily="34" charset="-122"/>
                <a:cs typeface="Arial" pitchFamily="34" charset="-120"/>
              </a:rPr>
              <a:t>j</a:t>
            </a:r>
            <a:r>
              <a:rPr lang="en-US" sz="2000" dirty="0">
                <a:solidFill>
                  <a:schemeClr val="tx1"/>
                </a:solidFill>
                <a:latin typeface="Arial" pitchFamily="34" charset="0"/>
                <a:ea typeface="Arial" pitchFamily="34" charset="-122"/>
                <a:cs typeface="Arial" pitchFamily="34" charset="-120"/>
              </a:rPr>
              <a:t> x</a:t>
            </a:r>
            <a:r>
              <a:rPr lang="en-US" sz="2000" baseline="-40000" dirty="0">
                <a:solidFill>
                  <a:schemeClr val="tx1"/>
                </a:solidFill>
                <a:latin typeface="Arial" pitchFamily="34" charset="0"/>
                <a:ea typeface="Arial" pitchFamily="34" charset="-122"/>
                <a:cs typeface="Arial" pitchFamily="34" charset="-120"/>
              </a:rPr>
              <a:t>ij</a:t>
            </a:r>
            <a:r>
              <a:rPr lang="en-US" sz="2000" dirty="0">
                <a:solidFill>
                  <a:schemeClr val="tx1"/>
                </a:solidFill>
                <a:latin typeface="Arial" pitchFamily="34" charset="0"/>
                <a:ea typeface="Arial" pitchFamily="34" charset="-122"/>
                <a:cs typeface="Arial" pitchFamily="34" charset="-120"/>
              </a:rPr>
              <a:t> = Supply</a:t>
            </a:r>
            <a:r>
              <a:rPr lang="en-US" sz="2000" baseline="-40000" dirty="0">
                <a:solidFill>
                  <a:schemeClr val="tx1"/>
                </a:solidFill>
                <a:latin typeface="Arial" pitchFamily="34" charset="0"/>
                <a:ea typeface="Arial" pitchFamily="34" charset="-122"/>
                <a:cs typeface="Arial" pitchFamily="34" charset="-120"/>
              </a:rPr>
              <a:t>i</a:t>
            </a:r>
            <a:r>
              <a:rPr lang="en-US" sz="2000" dirty="0">
                <a:solidFill>
                  <a:schemeClr val="tx1"/>
                </a:solidFill>
                <a:latin typeface="Arial" pitchFamily="34" charset="0"/>
                <a:ea typeface="Arial" pitchFamily="34" charset="-122"/>
                <a:cs typeface="Arial" pitchFamily="34" charset="-120"/>
              </a:rPr>
              <a:t>   for every hub i</a:t>
            </a:r>
            <a:endParaRPr lang="en-US" sz="2000" dirty="0"/>
          </a:p>
        </p:txBody>
      </p:sp>
      <p:sp>
        <p:nvSpPr>
          <p:cNvPr id="7" name="Text 5"/>
          <p:cNvSpPr txBox="1"/>
          <p:nvPr/>
        </p:nvSpPr>
        <p:spPr>
          <a:xfrm>
            <a:off x="868680" y="3931920"/>
            <a:ext cx="5760720" cy="45720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Σ</a:t>
            </a:r>
            <a:r>
              <a:rPr lang="en-US" sz="2000" baseline="-40000" dirty="0">
                <a:solidFill>
                  <a:schemeClr val="tx1"/>
                </a:solidFill>
                <a:latin typeface="Arial" pitchFamily="34" charset="0"/>
                <a:ea typeface="Arial" pitchFamily="34" charset="-122"/>
                <a:cs typeface="Arial" pitchFamily="34" charset="-120"/>
              </a:rPr>
              <a:t>i</a:t>
            </a:r>
            <a:r>
              <a:rPr lang="en-US" sz="2000" dirty="0">
                <a:solidFill>
                  <a:schemeClr val="tx1"/>
                </a:solidFill>
                <a:latin typeface="Arial" pitchFamily="34" charset="0"/>
                <a:ea typeface="Arial" pitchFamily="34" charset="-122"/>
                <a:cs typeface="Arial" pitchFamily="34" charset="-120"/>
              </a:rPr>
              <a:t> x</a:t>
            </a:r>
            <a:r>
              <a:rPr lang="en-US" sz="2000" baseline="-40000" dirty="0">
                <a:solidFill>
                  <a:schemeClr val="tx1"/>
                </a:solidFill>
                <a:latin typeface="Arial" pitchFamily="34" charset="0"/>
                <a:ea typeface="Arial" pitchFamily="34" charset="-122"/>
                <a:cs typeface="Arial" pitchFamily="34" charset="-120"/>
              </a:rPr>
              <a:t>ij</a:t>
            </a:r>
            <a:r>
              <a:rPr lang="en-US" sz="2000" dirty="0">
                <a:solidFill>
                  <a:schemeClr val="tx1"/>
                </a:solidFill>
                <a:latin typeface="Arial" pitchFamily="34" charset="0"/>
                <a:ea typeface="Arial" pitchFamily="34" charset="-122"/>
                <a:cs typeface="Arial" pitchFamily="34" charset="-120"/>
              </a:rPr>
              <a:t> = Demand</a:t>
            </a:r>
            <a:r>
              <a:rPr lang="en-US" sz="2000" baseline="-40000" dirty="0">
                <a:solidFill>
                  <a:schemeClr val="tx1"/>
                </a:solidFill>
                <a:latin typeface="Arial" pitchFamily="34" charset="0"/>
                <a:ea typeface="Arial" pitchFamily="34" charset="-122"/>
                <a:cs typeface="Arial" pitchFamily="34" charset="-120"/>
              </a:rPr>
              <a:t>j</a:t>
            </a:r>
            <a:r>
              <a:rPr lang="en-US" sz="2000" dirty="0">
                <a:solidFill>
                  <a:schemeClr val="tx1"/>
                </a:solidFill>
                <a:latin typeface="Arial" pitchFamily="34" charset="0"/>
                <a:ea typeface="Arial" pitchFamily="34" charset="-122"/>
                <a:cs typeface="Arial" pitchFamily="34" charset="-120"/>
              </a:rPr>
              <a:t>   for every site j</a:t>
            </a:r>
            <a:endParaRPr lang="en-US" sz="2000" dirty="0"/>
          </a:p>
        </p:txBody>
      </p:sp>
      <p:sp>
        <p:nvSpPr>
          <p:cNvPr id="8" name="Text 6"/>
          <p:cNvSpPr txBox="1"/>
          <p:nvPr/>
        </p:nvSpPr>
        <p:spPr>
          <a:xfrm>
            <a:off x="868680" y="4480560"/>
            <a:ext cx="5760720" cy="457200"/>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x</a:t>
            </a:r>
            <a:r>
              <a:rPr lang="en-US" sz="2000" baseline="-40000" dirty="0">
                <a:solidFill>
                  <a:schemeClr val="tx1"/>
                </a:solidFill>
                <a:latin typeface="Arial" pitchFamily="34" charset="0"/>
                <a:ea typeface="Arial" pitchFamily="34" charset="-122"/>
                <a:cs typeface="Arial" pitchFamily="34" charset="-120"/>
              </a:rPr>
              <a:t>ij</a:t>
            </a:r>
            <a:r>
              <a:rPr lang="en-US" sz="2000" dirty="0">
                <a:solidFill>
                  <a:schemeClr val="tx1"/>
                </a:solidFill>
                <a:latin typeface="Arial" pitchFamily="34" charset="0"/>
                <a:ea typeface="Arial" pitchFamily="34" charset="-122"/>
                <a:cs typeface="Arial" pitchFamily="34" charset="-120"/>
              </a:rPr>
              <a:t> ≥ 0</a:t>
            </a:r>
            <a:endParaRPr lang="en-US" sz="2000" dirty="0"/>
          </a:p>
        </p:txBody>
      </p:sp>
      <p:sp>
        <p:nvSpPr>
          <p:cNvPr id="9" name="Text 7"/>
          <p:cNvSpPr txBox="1"/>
          <p:nvPr/>
        </p:nvSpPr>
        <p:spPr>
          <a:xfrm>
            <a:off x="868680" y="5212080"/>
            <a:ext cx="5760720" cy="54864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The goal: find the x</a:t>
            </a:r>
            <a:r>
              <a:rPr lang="en-US" sz="1800" b="1" baseline="-40000" dirty="0">
                <a:solidFill>
                  <a:schemeClr val="tx1"/>
                </a:solidFill>
                <a:latin typeface="Arial" pitchFamily="34" charset="0"/>
                <a:ea typeface="Arial" pitchFamily="34" charset="-122"/>
                <a:cs typeface="Arial" pitchFamily="34" charset="-120"/>
              </a:rPr>
              <a:t>ij</a:t>
            </a:r>
            <a:r>
              <a:rPr lang="en-US" sz="1800" b="1" dirty="0">
                <a:solidFill>
                  <a:schemeClr val="tx1"/>
                </a:solidFill>
                <a:latin typeface="Arial" pitchFamily="34" charset="0"/>
                <a:ea typeface="Arial" pitchFamily="34" charset="-122"/>
                <a:cs typeface="Arial" pitchFamily="34" charset="-120"/>
              </a:rPr>
              <a:t> that minimize total cost.</a:t>
            </a:r>
            <a:endParaRPr lang="en-US" sz="1800" dirty="0"/>
          </a:p>
        </p:txBody>
      </p:sp>
      <p:sp>
        <p:nvSpPr>
          <p:cNvPr id="10" name="Text 8"/>
          <p:cNvSpPr txBox="1"/>
          <p:nvPr/>
        </p:nvSpPr>
        <p:spPr>
          <a:xfrm>
            <a:off x="7406640" y="1874520"/>
            <a:ext cx="4206240" cy="457200"/>
          </a:xfrm>
          <a:prstGeom prst="rect">
            <a:avLst/>
          </a:prstGeom>
          <a:noFill/>
          <a:ln/>
        </p:spPr>
        <p:txBody>
          <a:bodyPr wrap="square" lIns="0" tIns="0" rIns="0" bIns="0" rtlCol="0" anchor="t"/>
          <a:lstStyle/>
          <a:p>
            <a:pPr marL="0" indent="0">
              <a:buNone/>
            </a:pPr>
            <a:r>
              <a:rPr lang="en-US" sz="2400" b="1" dirty="0">
                <a:solidFill>
                  <a:schemeClr val="tx1"/>
                </a:solidFill>
                <a:latin typeface="Arial" pitchFamily="34" charset="0"/>
                <a:ea typeface="Arial" pitchFamily="34" charset="-122"/>
                <a:cs typeface="Arial" pitchFamily="34" charset="-120"/>
              </a:rPr>
              <a:t>What goes into c</a:t>
            </a:r>
            <a:r>
              <a:rPr lang="en-US" sz="2400" b="1" baseline="-40000" dirty="0">
                <a:solidFill>
                  <a:schemeClr val="tx1"/>
                </a:solidFill>
                <a:latin typeface="Arial" pitchFamily="34" charset="0"/>
                <a:ea typeface="Arial" pitchFamily="34" charset="-122"/>
                <a:cs typeface="Arial" pitchFamily="34" charset="-120"/>
              </a:rPr>
              <a:t>ij</a:t>
            </a:r>
            <a:r>
              <a:rPr lang="en-US" sz="2400" b="1" dirty="0">
                <a:solidFill>
                  <a:schemeClr val="tx1"/>
                </a:solidFill>
                <a:latin typeface="Arial" pitchFamily="34" charset="0"/>
                <a:ea typeface="Arial" pitchFamily="34" charset="-122"/>
                <a:cs typeface="Arial" pitchFamily="34" charset="-120"/>
              </a:rPr>
              <a:t>?</a:t>
            </a:r>
            <a:endParaRPr lang="en-US" sz="2400" dirty="0"/>
          </a:p>
        </p:txBody>
      </p:sp>
      <p:sp>
        <p:nvSpPr>
          <p:cNvPr id="11" name="Response time circle"/>
          <p:cNvSpPr/>
          <p:nvPr/>
        </p:nvSpPr>
        <p:spPr>
          <a:xfrm>
            <a:off x="7406640" y="256032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2" name="Image 0" descr="Response time"/>
          <p:cNvPicPr>
            <a:picLocks noChangeAspect="1"/>
          </p:cNvPicPr>
          <p:nvPr/>
        </p:nvPicPr>
        <p:blipFill>
          <a:blip r:embed="rId3"/>
          <a:stretch>
            <a:fillRect/>
          </a:stretch>
        </p:blipFill>
        <p:spPr>
          <a:xfrm>
            <a:off x="7604150" y="2757830"/>
            <a:ext cx="336499" cy="336499"/>
          </a:xfrm>
          <a:prstGeom prst="rect">
            <a:avLst/>
          </a:prstGeom>
        </p:spPr>
      </p:pic>
      <p:sp>
        <p:nvSpPr>
          <p:cNvPr id="13" name="Text 10"/>
          <p:cNvSpPr txBox="1"/>
          <p:nvPr/>
        </p:nvSpPr>
        <p:spPr>
          <a:xfrm>
            <a:off x="8366760" y="2606040"/>
            <a:ext cx="324612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Response time</a:t>
            </a:r>
            <a:endParaRPr lang="en-US" sz="2000" dirty="0"/>
          </a:p>
        </p:txBody>
      </p:sp>
      <p:sp>
        <p:nvSpPr>
          <p:cNvPr id="14" name="Text 11"/>
          <p:cNvSpPr txBox="1"/>
          <p:nvPr/>
        </p:nvSpPr>
        <p:spPr>
          <a:xfrm>
            <a:off x="8366760" y="2990088"/>
            <a:ext cx="3246120" cy="50292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Travel and arrival speed</a:t>
            </a:r>
            <a:endParaRPr lang="en-US" sz="1400" dirty="0"/>
          </a:p>
        </p:txBody>
      </p:sp>
      <p:sp>
        <p:nvSpPr>
          <p:cNvPr id="15" name="Priority circle"/>
          <p:cNvSpPr/>
          <p:nvPr/>
        </p:nvSpPr>
        <p:spPr>
          <a:xfrm>
            <a:off x="7406640" y="374904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6" name="Image 1" descr="Priority"/>
          <p:cNvPicPr>
            <a:picLocks noChangeAspect="1"/>
          </p:cNvPicPr>
          <p:nvPr/>
        </p:nvPicPr>
        <p:blipFill>
          <a:blip r:embed="rId4"/>
          <a:stretch>
            <a:fillRect/>
          </a:stretch>
        </p:blipFill>
        <p:spPr>
          <a:xfrm>
            <a:off x="7604150" y="3946550"/>
            <a:ext cx="336499" cy="336499"/>
          </a:xfrm>
          <a:prstGeom prst="rect">
            <a:avLst/>
          </a:prstGeom>
        </p:spPr>
      </p:pic>
      <p:sp>
        <p:nvSpPr>
          <p:cNvPr id="17" name="Text 13"/>
          <p:cNvSpPr txBox="1"/>
          <p:nvPr/>
        </p:nvSpPr>
        <p:spPr>
          <a:xfrm>
            <a:off x="8366760" y="3794760"/>
            <a:ext cx="324612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Priority</a:t>
            </a:r>
            <a:endParaRPr lang="en-US" sz="2000" dirty="0"/>
          </a:p>
        </p:txBody>
      </p:sp>
      <p:sp>
        <p:nvSpPr>
          <p:cNvPr id="18" name="Text 14"/>
          <p:cNvSpPr txBox="1"/>
          <p:nvPr/>
        </p:nvSpPr>
        <p:spPr>
          <a:xfrm>
            <a:off x="8366760" y="4178808"/>
            <a:ext cx="3246120" cy="50292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Criticality of the alerting site</a:t>
            </a:r>
            <a:endParaRPr lang="en-US" sz="1400" dirty="0"/>
          </a:p>
        </p:txBody>
      </p:sp>
      <p:sp>
        <p:nvSpPr>
          <p:cNvPr id="19" name="Skill alignment circle"/>
          <p:cNvSpPr/>
          <p:nvPr/>
        </p:nvSpPr>
        <p:spPr>
          <a:xfrm>
            <a:off x="7406640" y="493776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20" name="Image 2" descr="Skill alignment"/>
          <p:cNvPicPr>
            <a:picLocks noChangeAspect="1"/>
          </p:cNvPicPr>
          <p:nvPr/>
        </p:nvPicPr>
        <p:blipFill>
          <a:blip r:embed="rId5"/>
          <a:stretch>
            <a:fillRect/>
          </a:stretch>
        </p:blipFill>
        <p:spPr>
          <a:xfrm>
            <a:off x="7604150" y="5135270"/>
            <a:ext cx="336499" cy="336499"/>
          </a:xfrm>
          <a:prstGeom prst="rect">
            <a:avLst/>
          </a:prstGeom>
        </p:spPr>
      </p:pic>
      <p:sp>
        <p:nvSpPr>
          <p:cNvPr id="21" name="Text 16"/>
          <p:cNvSpPr txBox="1"/>
          <p:nvPr/>
        </p:nvSpPr>
        <p:spPr>
          <a:xfrm>
            <a:off x="8366760" y="4983480"/>
            <a:ext cx="3246120" cy="36576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Skill alignment</a:t>
            </a:r>
            <a:endParaRPr lang="en-US" sz="2000" dirty="0"/>
          </a:p>
        </p:txBody>
      </p:sp>
      <p:sp>
        <p:nvSpPr>
          <p:cNvPr id="22" name="Text 17"/>
          <p:cNvSpPr txBox="1"/>
          <p:nvPr/>
        </p:nvSpPr>
        <p:spPr>
          <a:xfrm>
            <a:off x="8366760" y="5367528"/>
            <a:ext cx="3246120" cy="502920"/>
          </a:xfrm>
          <a:prstGeom prst="rect">
            <a:avLst/>
          </a:prstGeom>
          <a:noFill/>
          <a:ln/>
        </p:spPr>
        <p:txBody>
          <a:bodyPr wrap="square" lIns="0" tIns="0" rIns="0" bIns="0" rtlCol="0" anchor="t"/>
          <a:lstStyle/>
          <a:p>
            <a:pPr marL="0" indent="0">
              <a:buNone/>
            </a:pPr>
            <a:r>
              <a:rPr lang="en-US" sz="1400" dirty="0">
                <a:solidFill>
                  <a:schemeClr val="tx2"/>
                </a:solidFill>
                <a:latin typeface="Arial" pitchFamily="34" charset="0"/>
                <a:ea typeface="Arial" pitchFamily="34" charset="-122"/>
                <a:cs typeface="Arial" pitchFamily="34" charset="-120"/>
              </a:rPr>
              <a:t>Fit between engineer and incident</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SOLUTION METHODS</a:t>
            </a:r>
            <a:endParaRPr lang="en-US" sz="3600" dirty="0"/>
          </a:p>
        </p:txBody>
      </p:sp>
      <p:sp>
        <p:nvSpPr>
          <p:cNvPr id="3" name="Phase 1 card"/>
          <p:cNvSpPr/>
          <p:nvPr/>
        </p:nvSpPr>
        <p:spPr>
          <a:xfrm>
            <a:off x="548640" y="1874520"/>
            <a:ext cx="5120640" cy="3063240"/>
          </a:xfrm>
          <a:prstGeom prst="roundRect">
            <a:avLst>
              <a:gd name="adj" fmla="val 3582"/>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4" name="Text 2"/>
          <p:cNvSpPr txBox="1"/>
          <p:nvPr/>
        </p:nvSpPr>
        <p:spPr>
          <a:xfrm>
            <a:off x="822960" y="2057400"/>
            <a:ext cx="3657600" cy="274320"/>
          </a:xfrm>
          <a:prstGeom prst="rect">
            <a:avLst/>
          </a:prstGeom>
          <a:noFill/>
          <a:ln/>
        </p:spPr>
        <p:txBody>
          <a:bodyPr wrap="square" lIns="0" tIns="0" rIns="0" bIns="0" rtlCol="0" anchor="t"/>
          <a:lstStyle/>
          <a:p>
            <a:pPr marL="0" indent="0">
              <a:buNone/>
            </a:pPr>
            <a:r>
              <a:rPr lang="en-US" sz="1200" b="1" kern="0" spc="300" dirty="0">
                <a:solidFill>
                  <a:schemeClr val="accent2"/>
                </a:solidFill>
                <a:latin typeface="Arial" pitchFamily="34" charset="0"/>
                <a:ea typeface="Arial" pitchFamily="34" charset="-122"/>
                <a:cs typeface="Arial" pitchFamily="34" charset="-120"/>
              </a:rPr>
              <a:t>PHASE 1</a:t>
            </a:r>
            <a:endParaRPr lang="en-US" sz="1200" dirty="0"/>
          </a:p>
        </p:txBody>
      </p:sp>
      <p:sp>
        <p:nvSpPr>
          <p:cNvPr id="5" name="Text 3"/>
          <p:cNvSpPr txBox="1"/>
          <p:nvPr/>
        </p:nvSpPr>
        <p:spPr>
          <a:xfrm>
            <a:off x="822960" y="2359152"/>
            <a:ext cx="4572000" cy="457200"/>
          </a:xfrm>
          <a:prstGeom prst="rect">
            <a:avLst/>
          </a:prstGeom>
          <a:noFill/>
          <a:ln/>
        </p:spPr>
        <p:txBody>
          <a:bodyPr wrap="square" lIns="0" tIns="0" rIns="0" bIns="0" rtlCol="0" anchor="t"/>
          <a:lstStyle/>
          <a:p>
            <a:pPr marL="0" indent="0">
              <a:buNone/>
            </a:pPr>
            <a:r>
              <a:rPr lang="en-US" sz="2400" b="1" dirty="0">
                <a:solidFill>
                  <a:schemeClr val="tx1"/>
                </a:solidFill>
                <a:latin typeface="Arial" pitchFamily="34" charset="0"/>
                <a:ea typeface="Arial" pitchFamily="34" charset="-122"/>
                <a:cs typeface="Arial" pitchFamily="34" charset="-120"/>
              </a:rPr>
              <a:t>Initial feasible solution</a:t>
            </a:r>
            <a:endParaRPr lang="en-US" sz="2400" dirty="0"/>
          </a:p>
        </p:txBody>
      </p:sp>
      <p:sp>
        <p:nvSpPr>
          <p:cNvPr id="6" name="Text 4"/>
          <p:cNvSpPr txBox="1"/>
          <p:nvPr/>
        </p:nvSpPr>
        <p:spPr>
          <a:xfrm>
            <a:off x="822960" y="2926080"/>
            <a:ext cx="4572000" cy="1828800"/>
          </a:xfrm>
          <a:prstGeom prst="rect">
            <a:avLst/>
          </a:prstGeom>
          <a:noFill/>
          <a:ln/>
        </p:spPr>
        <p:txBody>
          <a:bodyPr wrap="square" lIns="0" tIns="0" rIns="0" bIns="0" rtlCol="0" anchor="t"/>
          <a:lstStyle/>
          <a:p>
            <a:pPr marL="0" indent="0">
              <a:spcAft>
                <a:spcPts val="1000"/>
              </a:spcAft>
              <a:buNone/>
            </a:pPr>
            <a:r>
              <a:rPr lang="en-US" sz="1500" b="1" dirty="0">
                <a:solidFill>
                  <a:schemeClr val="tx1"/>
                </a:solidFill>
                <a:latin typeface="Arial" pitchFamily="34" charset="0"/>
                <a:ea typeface="Arial" pitchFamily="34" charset="-122"/>
                <a:cs typeface="Arial" pitchFamily="34" charset="-120"/>
              </a:rPr>
              <a:t>Vogel's Approximation (VAM): </a:t>
            </a:r>
            <a:r>
              <a:rPr lang="en-US" sz="1500" dirty="0">
                <a:solidFill>
                  <a:schemeClr val="tx1"/>
                </a:solidFill>
                <a:latin typeface="Arial" pitchFamily="34" charset="0"/>
                <a:ea typeface="Arial" pitchFamily="34" charset="-122"/>
                <a:cs typeface="Arial" pitchFamily="34" charset="-120"/>
              </a:rPr>
              <a:t>ship along the cheapest cell of the row or column with the biggest penalty.</a:t>
            </a:r>
            <a:endParaRPr lang="en-US" sz="1500" dirty="0"/>
          </a:p>
          <a:p>
            <a:pPr marL="0" indent="0">
              <a:spcAft>
                <a:spcPts val="1000"/>
              </a:spcAft>
              <a:buNone/>
            </a:pPr>
            <a:r>
              <a:rPr lang="en-US" sz="1500" b="1" dirty="0">
                <a:solidFill>
                  <a:schemeClr val="tx1"/>
                </a:solidFill>
                <a:latin typeface="Arial" pitchFamily="34" charset="0"/>
                <a:ea typeface="Arial" pitchFamily="34" charset="-122"/>
                <a:cs typeface="Arial" pitchFamily="34" charset="-120"/>
              </a:rPr>
              <a:t>Least Cost Method (LCM): </a:t>
            </a:r>
            <a:r>
              <a:rPr lang="en-US" sz="1500" dirty="0">
                <a:solidFill>
                  <a:schemeClr val="tx1"/>
                </a:solidFill>
                <a:latin typeface="Arial" pitchFamily="34" charset="0"/>
                <a:ea typeface="Arial" pitchFamily="34" charset="-122"/>
                <a:cs typeface="Arial" pitchFamily="34" charset="-120"/>
              </a:rPr>
              <a:t>always ship along the cheapest available cell.</a:t>
            </a:r>
            <a:endParaRPr lang="en-US" sz="1500" dirty="0"/>
          </a:p>
        </p:txBody>
      </p:sp>
      <p:sp>
        <p:nvSpPr>
          <p:cNvPr id="7" name="Phase arrow"/>
          <p:cNvSpPr/>
          <p:nvPr/>
        </p:nvSpPr>
        <p:spPr>
          <a:xfrm>
            <a:off x="5806440" y="3108960"/>
            <a:ext cx="594360" cy="502920"/>
          </a:xfrm>
          <a:prstGeom prst="rightArrow">
            <a:avLst/>
          </a:prstGeom>
          <a:solidFill>
            <a:schemeClr val="accent1"/>
          </a:solidFill>
          <a:ln w="12700">
            <a:solidFill>
              <a:schemeClr val="accent1"/>
            </a:solidFill>
            <a:prstDash val="solid"/>
          </a:ln>
        </p:spPr>
        <p:txBody>
          <a:bodyPr/>
          <a:lstStyle/>
          <a:p>
            <a:endParaRPr lang="en-US"/>
          </a:p>
        </p:txBody>
      </p:sp>
      <p:sp>
        <p:nvSpPr>
          <p:cNvPr id="8" name="Phase 2 card"/>
          <p:cNvSpPr/>
          <p:nvPr/>
        </p:nvSpPr>
        <p:spPr>
          <a:xfrm>
            <a:off x="6519672" y="1874520"/>
            <a:ext cx="5120640" cy="3063240"/>
          </a:xfrm>
          <a:prstGeom prst="roundRect">
            <a:avLst>
              <a:gd name="adj" fmla="val 3582"/>
            </a:avLst>
          </a:prstGeom>
          <a:solidFill>
            <a:schemeClr val="accent1"/>
          </a:solidFill>
          <a:ln w="12700">
            <a:solidFill>
              <a:schemeClr val="accent1"/>
            </a:solidFill>
            <a:prstDash val="solid"/>
          </a:ln>
          <a:effectLst>
            <a:outerShdw blurRad="101600" dist="25400" dir="5400000" algn="bl" rotWithShape="0">
              <a:srgbClr val="000000">
                <a:alpha val="10000"/>
              </a:srgbClr>
            </a:outerShdw>
          </a:effectLst>
        </p:spPr>
        <p:txBody>
          <a:bodyPr/>
          <a:lstStyle/>
          <a:p>
            <a:endParaRPr lang="en-US"/>
          </a:p>
        </p:txBody>
      </p:sp>
      <p:sp>
        <p:nvSpPr>
          <p:cNvPr id="9" name="Text 7"/>
          <p:cNvSpPr txBox="1"/>
          <p:nvPr/>
        </p:nvSpPr>
        <p:spPr>
          <a:xfrm>
            <a:off x="6793992" y="2057400"/>
            <a:ext cx="3657600" cy="274320"/>
          </a:xfrm>
          <a:prstGeom prst="rect">
            <a:avLst/>
          </a:prstGeom>
          <a:noFill/>
          <a:ln/>
        </p:spPr>
        <p:txBody>
          <a:bodyPr wrap="square" lIns="0" tIns="0" rIns="0" bIns="0" rtlCol="0" anchor="t"/>
          <a:lstStyle/>
          <a:p>
            <a:pPr marL="0" indent="0">
              <a:buNone/>
            </a:pPr>
            <a:r>
              <a:rPr lang="en-US" sz="1200" b="1" kern="0" spc="300" dirty="0">
                <a:solidFill>
                  <a:schemeClr val="bg1"/>
                </a:solidFill>
                <a:latin typeface="Arial" pitchFamily="34" charset="0"/>
                <a:ea typeface="Arial" pitchFamily="34" charset="-122"/>
                <a:cs typeface="Arial" pitchFamily="34" charset="-120"/>
              </a:rPr>
              <a:t>PHASE 2</a:t>
            </a:r>
            <a:endParaRPr lang="en-US" sz="1200" dirty="0"/>
          </a:p>
        </p:txBody>
      </p:sp>
      <p:sp>
        <p:nvSpPr>
          <p:cNvPr id="10" name="Text 8"/>
          <p:cNvSpPr txBox="1"/>
          <p:nvPr/>
        </p:nvSpPr>
        <p:spPr>
          <a:xfrm>
            <a:off x="6793992" y="2359152"/>
            <a:ext cx="4572000" cy="457200"/>
          </a:xfrm>
          <a:prstGeom prst="rect">
            <a:avLst/>
          </a:prstGeom>
          <a:noFill/>
          <a:ln/>
        </p:spPr>
        <p:txBody>
          <a:bodyPr wrap="square" lIns="0" tIns="0" rIns="0" bIns="0" rtlCol="0" anchor="t"/>
          <a:lstStyle/>
          <a:p>
            <a:pPr marL="0" indent="0">
              <a:buNone/>
            </a:pPr>
            <a:r>
              <a:rPr lang="en-US" sz="2400" b="1" dirty="0">
                <a:solidFill>
                  <a:schemeClr val="bg1"/>
                </a:solidFill>
                <a:latin typeface="Arial" pitchFamily="34" charset="0"/>
                <a:ea typeface="Arial" pitchFamily="34" charset="-122"/>
                <a:cs typeface="Arial" pitchFamily="34" charset="-120"/>
              </a:rPr>
              <a:t>Optimality test (MODI)</a:t>
            </a:r>
            <a:endParaRPr lang="en-US" sz="2400" dirty="0"/>
          </a:p>
        </p:txBody>
      </p:sp>
      <p:sp>
        <p:nvSpPr>
          <p:cNvPr id="11" name="Text 9"/>
          <p:cNvSpPr txBox="1"/>
          <p:nvPr/>
        </p:nvSpPr>
        <p:spPr>
          <a:xfrm>
            <a:off x="6793992" y="2926080"/>
            <a:ext cx="45720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latin typeface="Arial" pitchFamily="34" charset="0"/>
                <a:ea typeface="Arial" pitchFamily="34" charset="-122"/>
                <a:cs typeface="Arial" pitchFamily="34" charset="-120"/>
              </a:rPr>
              <a:t>Compute potentials u + v = c on every loaded cell.</a:t>
            </a:r>
            <a:endParaRPr lang="en-US" sz="1500" dirty="0"/>
          </a:p>
          <a:p>
            <a:pPr marL="342900" indent="-342900">
              <a:spcAft>
                <a:spcPts val="800"/>
              </a:spcAft>
              <a:buSzPct val="100000"/>
              <a:buChar char="•"/>
            </a:pPr>
            <a:r>
              <a:rPr lang="en-US" sz="1500" dirty="0">
                <a:solidFill>
                  <a:schemeClr val="bg1"/>
                </a:solidFill>
                <a:latin typeface="Arial" pitchFamily="34" charset="0"/>
                <a:ea typeface="Arial" pitchFamily="34" charset="-122"/>
                <a:cs typeface="Arial" pitchFamily="34" charset="-120"/>
              </a:rPr>
              <a:t>Reduced cost Δ = c − (u + v) on every empty cell.</a:t>
            </a:r>
            <a:endParaRPr lang="en-US" sz="1500" dirty="0"/>
          </a:p>
          <a:p>
            <a:pPr marL="342900" indent="-342900">
              <a:spcAft>
                <a:spcPts val="800"/>
              </a:spcAft>
              <a:buSzPct val="100000"/>
              <a:buChar char="•"/>
            </a:pPr>
            <a:r>
              <a:rPr lang="en-US" sz="1500" dirty="0">
                <a:solidFill>
                  <a:schemeClr val="bg1"/>
                </a:solidFill>
                <a:latin typeface="Arial" pitchFamily="34" charset="0"/>
                <a:ea typeface="Arial" pitchFamily="34" charset="-122"/>
                <a:cs typeface="Arial" pitchFamily="34" charset="-120"/>
              </a:rPr>
              <a:t>All Δ ≥ 0: optimal. Otherwise pivot around a closed loop and repeat.</a:t>
            </a:r>
            <a:endParaRPr lang="en-US" sz="1500" dirty="0"/>
          </a:p>
        </p:txBody>
      </p:sp>
      <p:sp>
        <p:nvSpPr>
          <p:cNvPr id="12" name="Why card"/>
          <p:cNvSpPr/>
          <p:nvPr/>
        </p:nvSpPr>
        <p:spPr>
          <a:xfrm>
            <a:off x="548640" y="5212080"/>
            <a:ext cx="11091672" cy="868680"/>
          </a:xfrm>
          <a:prstGeom prst="roundRect">
            <a:avLst>
              <a:gd name="adj" fmla="val 12632"/>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3" name="Text 11"/>
          <p:cNvSpPr txBox="1"/>
          <p:nvPr/>
        </p:nvSpPr>
        <p:spPr>
          <a:xfrm>
            <a:off x="822960" y="5212080"/>
            <a:ext cx="10515600" cy="868680"/>
          </a:xfrm>
          <a:prstGeom prst="rect">
            <a:avLst/>
          </a:prstGeom>
          <a:noFill/>
          <a:ln/>
        </p:spPr>
        <p:txBody>
          <a:bodyPr wrap="square" lIns="0" tIns="0" rIns="0" bIns="0" rtlCol="0" anchor="ctr"/>
          <a:lstStyle/>
          <a:p>
            <a:pPr marL="0" indent="0">
              <a:buNone/>
            </a:pPr>
            <a:r>
              <a:rPr lang="en-US" sz="1600" b="1" dirty="0">
                <a:solidFill>
                  <a:schemeClr val="accent2"/>
                </a:solidFill>
                <a:latin typeface="Arial" pitchFamily="34" charset="0"/>
                <a:ea typeface="Arial" pitchFamily="34" charset="-122"/>
                <a:cs typeface="Arial" pitchFamily="34" charset="-120"/>
              </a:rPr>
              <a:t>WHY BOTH?  </a:t>
            </a:r>
            <a:r>
              <a:rPr lang="en-US" sz="1600" dirty="0">
                <a:solidFill>
                  <a:schemeClr val="tx1"/>
                </a:solidFill>
                <a:latin typeface="Arial" pitchFamily="34" charset="0"/>
                <a:ea typeface="Arial" pitchFamily="34" charset="-122"/>
                <a:cs typeface="Arial" pitchFamily="34" charset="-120"/>
              </a:rPr>
              <a:t>VAM won in 2 of 3 scenarios but LCM won in Scenario 1, so we compare both starts and let MODI finish the job.</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WHEN ALERTS ≠ ENGINEERS</a:t>
            </a:r>
            <a:endParaRPr lang="en-US" sz="3600" dirty="0"/>
          </a:p>
        </p:txBody>
      </p:sp>
      <p:sp>
        <p:nvSpPr>
          <p:cNvPr id="3" name="Text 1"/>
          <p:cNvSpPr txBox="1"/>
          <p:nvPr/>
        </p:nvSpPr>
        <p:spPr>
          <a:xfrm>
            <a:off x="548640" y="1828800"/>
            <a:ext cx="11091672" cy="411480"/>
          </a:xfrm>
          <a:prstGeom prst="rect">
            <a:avLst/>
          </a:prstGeom>
          <a:noFill/>
          <a:ln/>
        </p:spPr>
        <p:txBody>
          <a:bodyPr wrap="square" lIns="0" tIns="0" rIns="0" bIns="0" rtlCol="0" anchor="t"/>
          <a:lstStyle/>
          <a:p>
            <a:pPr marL="0" indent="0">
              <a:buNone/>
            </a:pPr>
            <a:r>
              <a:rPr lang="en-US" sz="1800" dirty="0">
                <a:solidFill>
                  <a:schemeClr val="tx2"/>
                </a:solidFill>
                <a:latin typeface="Arial" pitchFamily="34" charset="0"/>
                <a:ea typeface="Arial" pitchFamily="34" charset="-122"/>
                <a:cs typeface="Arial" pitchFamily="34" charset="-120"/>
              </a:rPr>
              <a:t>Dummy nodes keep the problem solvable when the network is uneven.</a:t>
            </a:r>
            <a:endParaRPr lang="en-US" sz="1800" dirty="0"/>
          </a:p>
        </p:txBody>
      </p:sp>
      <p:sp>
        <p:nvSpPr>
          <p:cNvPr id="4" name="Edge card 01"/>
          <p:cNvSpPr/>
          <p:nvPr/>
        </p:nvSpPr>
        <p:spPr>
          <a:xfrm>
            <a:off x="548640" y="2514600"/>
            <a:ext cx="5458968" cy="3566160"/>
          </a:xfrm>
          <a:prstGeom prst="roundRect">
            <a:avLst>
              <a:gd name="adj" fmla="val 3077"/>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5" name="Dummy source circle"/>
          <p:cNvSpPr/>
          <p:nvPr/>
        </p:nvSpPr>
        <p:spPr>
          <a:xfrm>
            <a:off x="868680" y="278892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6" name="Image 0" descr="Dummy source"/>
          <p:cNvPicPr>
            <a:picLocks noChangeAspect="1"/>
          </p:cNvPicPr>
          <p:nvPr/>
        </p:nvPicPr>
        <p:blipFill>
          <a:blip r:embed="rId3"/>
          <a:stretch>
            <a:fillRect/>
          </a:stretch>
        </p:blipFill>
        <p:spPr>
          <a:xfrm>
            <a:off x="1066190" y="2986430"/>
            <a:ext cx="336499" cy="336499"/>
          </a:xfrm>
          <a:prstGeom prst="rect">
            <a:avLst/>
          </a:prstGeom>
        </p:spPr>
      </p:pic>
      <p:sp>
        <p:nvSpPr>
          <p:cNvPr id="7" name="Text 4"/>
          <p:cNvSpPr txBox="1"/>
          <p:nvPr/>
        </p:nvSpPr>
        <p:spPr>
          <a:xfrm>
            <a:off x="4754880" y="2834640"/>
            <a:ext cx="914400" cy="548640"/>
          </a:xfrm>
          <a:prstGeom prst="rect">
            <a:avLst/>
          </a:prstGeom>
          <a:noFill/>
          <a:ln/>
        </p:spPr>
        <p:txBody>
          <a:bodyPr wrap="square" lIns="0" tIns="0" rIns="0" bIns="0" rtlCol="0" anchor="t"/>
          <a:lstStyle/>
          <a:p>
            <a:pPr marL="0" indent="0" algn="r">
              <a:buNone/>
            </a:pPr>
            <a:r>
              <a:rPr lang="en-US" sz="3200" b="1" dirty="0">
                <a:solidFill>
                  <a:schemeClr val="accent5"/>
                </a:solidFill>
                <a:latin typeface="Arial" pitchFamily="34" charset="0"/>
                <a:ea typeface="Arial" pitchFamily="34" charset="-122"/>
                <a:cs typeface="Arial" pitchFamily="34" charset="-120"/>
              </a:rPr>
              <a:t>01</a:t>
            </a:r>
            <a:endParaRPr lang="en-US" sz="3200" dirty="0"/>
          </a:p>
        </p:txBody>
      </p:sp>
      <p:sp>
        <p:nvSpPr>
          <p:cNvPr id="8" name="Text 5"/>
          <p:cNvSpPr txBox="1"/>
          <p:nvPr/>
        </p:nvSpPr>
        <p:spPr>
          <a:xfrm>
            <a:off x="868680" y="3749040"/>
            <a:ext cx="475488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Arial" pitchFamily="34" charset="0"/>
                <a:ea typeface="Arial" pitchFamily="34" charset="-122"/>
                <a:cs typeface="Arial" pitchFamily="34" charset="-120"/>
              </a:rPr>
              <a:t>DEMAND &gt; SUPPLY</a:t>
            </a:r>
            <a:endParaRPr lang="en-US" sz="1200" dirty="0"/>
          </a:p>
        </p:txBody>
      </p:sp>
      <p:sp>
        <p:nvSpPr>
          <p:cNvPr id="9" name="Text 6"/>
          <p:cNvSpPr txBox="1"/>
          <p:nvPr/>
        </p:nvSpPr>
        <p:spPr>
          <a:xfrm>
            <a:off x="868680" y="4069080"/>
            <a:ext cx="4754880" cy="457200"/>
          </a:xfrm>
          <a:prstGeom prst="rect">
            <a:avLst/>
          </a:prstGeom>
          <a:noFill/>
          <a:ln/>
        </p:spPr>
        <p:txBody>
          <a:bodyPr wrap="square" lIns="0" tIns="0" rIns="0" bIns="0" rtlCol="0" anchor="t"/>
          <a:lstStyle/>
          <a:p>
            <a:pPr marL="0" indent="0">
              <a:buNone/>
            </a:pPr>
            <a:r>
              <a:rPr lang="en-US" sz="2600" b="1" dirty="0">
                <a:solidFill>
                  <a:schemeClr val="tx1"/>
                </a:solidFill>
                <a:latin typeface="Arial" pitchFamily="34" charset="0"/>
                <a:ea typeface="Arial" pitchFamily="34" charset="-122"/>
                <a:cs typeface="Arial" pitchFamily="34" charset="-120"/>
              </a:rPr>
              <a:t>Dummy source</a:t>
            </a:r>
            <a:endParaRPr lang="en-US" sz="2600" dirty="0"/>
          </a:p>
        </p:txBody>
      </p:sp>
      <p:sp>
        <p:nvSpPr>
          <p:cNvPr id="10" name="Text 7"/>
          <p:cNvSpPr txBox="1"/>
          <p:nvPr/>
        </p:nvSpPr>
        <p:spPr>
          <a:xfrm>
            <a:off x="868680" y="4617720"/>
            <a:ext cx="4754880" cy="64008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Add a zero-cost source. Its shipments are the alerts we cannot staff.</a:t>
            </a:r>
            <a:endParaRPr lang="en-US" sz="1600" dirty="0"/>
          </a:p>
        </p:txBody>
      </p:sp>
      <p:sp>
        <p:nvSpPr>
          <p:cNvPr id="11" name="Text 8"/>
          <p:cNvSpPr txBox="1"/>
          <p:nvPr/>
        </p:nvSpPr>
        <p:spPr>
          <a:xfrm>
            <a:off x="868680" y="5349240"/>
            <a:ext cx="4754880" cy="457200"/>
          </a:xfrm>
          <a:prstGeom prst="rect">
            <a:avLst/>
          </a:prstGeom>
          <a:noFill/>
          <a:ln/>
        </p:spPr>
        <p:txBody>
          <a:bodyPr wrap="square" lIns="0" tIns="0" rIns="0" bIns="0" rtlCol="0" anchor="t"/>
          <a:lstStyle/>
          <a:p>
            <a:pPr marL="0" indent="0">
              <a:buNone/>
            </a:pPr>
            <a:r>
              <a:rPr lang="en-US" sz="1600" b="1" dirty="0">
                <a:solidFill>
                  <a:schemeClr val="accent2"/>
                </a:solidFill>
                <a:latin typeface="Arial" pitchFamily="34" charset="0"/>
                <a:ea typeface="Arial" pitchFamily="34" charset="-122"/>
                <a:cs typeface="Arial" pitchFamily="34" charset="-120"/>
              </a:rPr>
              <a:t>Scenario 1: 20 Factory alerts stay unstaffed.</a:t>
            </a:r>
            <a:endParaRPr lang="en-US" sz="1600" dirty="0"/>
          </a:p>
        </p:txBody>
      </p:sp>
      <p:sp>
        <p:nvSpPr>
          <p:cNvPr id="12" name="Edge card 02"/>
          <p:cNvSpPr/>
          <p:nvPr/>
        </p:nvSpPr>
        <p:spPr>
          <a:xfrm>
            <a:off x="6185916" y="2514600"/>
            <a:ext cx="5458968" cy="3566160"/>
          </a:xfrm>
          <a:prstGeom prst="roundRect">
            <a:avLst>
              <a:gd name="adj" fmla="val 3077"/>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3" name="Dummy destination circle"/>
          <p:cNvSpPr/>
          <p:nvPr/>
        </p:nvSpPr>
        <p:spPr>
          <a:xfrm>
            <a:off x="6505956" y="278892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4" name="Image 1" descr="Dummy destination"/>
          <p:cNvPicPr>
            <a:picLocks noChangeAspect="1"/>
          </p:cNvPicPr>
          <p:nvPr/>
        </p:nvPicPr>
        <p:blipFill>
          <a:blip r:embed="rId4"/>
          <a:stretch>
            <a:fillRect/>
          </a:stretch>
        </p:blipFill>
        <p:spPr>
          <a:xfrm>
            <a:off x="6703466" y="2986430"/>
            <a:ext cx="336499" cy="336499"/>
          </a:xfrm>
          <a:prstGeom prst="rect">
            <a:avLst/>
          </a:prstGeom>
        </p:spPr>
      </p:pic>
      <p:sp>
        <p:nvSpPr>
          <p:cNvPr id="15" name="Text 11"/>
          <p:cNvSpPr txBox="1"/>
          <p:nvPr/>
        </p:nvSpPr>
        <p:spPr>
          <a:xfrm>
            <a:off x="10392156" y="2834640"/>
            <a:ext cx="914400" cy="548640"/>
          </a:xfrm>
          <a:prstGeom prst="rect">
            <a:avLst/>
          </a:prstGeom>
          <a:noFill/>
          <a:ln/>
        </p:spPr>
        <p:txBody>
          <a:bodyPr wrap="square" lIns="0" tIns="0" rIns="0" bIns="0" rtlCol="0" anchor="t"/>
          <a:lstStyle/>
          <a:p>
            <a:pPr marL="0" indent="0" algn="r">
              <a:buNone/>
            </a:pPr>
            <a:r>
              <a:rPr lang="en-US" sz="3200" b="1" dirty="0">
                <a:solidFill>
                  <a:schemeClr val="accent5"/>
                </a:solidFill>
                <a:latin typeface="Arial" pitchFamily="34" charset="0"/>
                <a:ea typeface="Arial" pitchFamily="34" charset="-122"/>
                <a:cs typeface="Arial" pitchFamily="34" charset="-120"/>
              </a:rPr>
              <a:t>02</a:t>
            </a:r>
            <a:endParaRPr lang="en-US" sz="3200" dirty="0"/>
          </a:p>
        </p:txBody>
      </p:sp>
      <p:sp>
        <p:nvSpPr>
          <p:cNvPr id="16" name="Text 12"/>
          <p:cNvSpPr txBox="1"/>
          <p:nvPr/>
        </p:nvSpPr>
        <p:spPr>
          <a:xfrm>
            <a:off x="6505956" y="3749040"/>
            <a:ext cx="475488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Arial" pitchFamily="34" charset="0"/>
                <a:ea typeface="Arial" pitchFamily="34" charset="-122"/>
                <a:cs typeface="Arial" pitchFamily="34" charset="-120"/>
              </a:rPr>
              <a:t>SUPPLY &gt; DEMAND</a:t>
            </a:r>
            <a:endParaRPr lang="en-US" sz="1200" dirty="0"/>
          </a:p>
        </p:txBody>
      </p:sp>
      <p:sp>
        <p:nvSpPr>
          <p:cNvPr id="17" name="Text 13"/>
          <p:cNvSpPr txBox="1"/>
          <p:nvPr/>
        </p:nvSpPr>
        <p:spPr>
          <a:xfrm>
            <a:off x="6505956" y="4069080"/>
            <a:ext cx="4754880" cy="457200"/>
          </a:xfrm>
          <a:prstGeom prst="rect">
            <a:avLst/>
          </a:prstGeom>
          <a:noFill/>
          <a:ln/>
        </p:spPr>
        <p:txBody>
          <a:bodyPr wrap="square" lIns="0" tIns="0" rIns="0" bIns="0" rtlCol="0" anchor="t"/>
          <a:lstStyle/>
          <a:p>
            <a:pPr marL="0" indent="0">
              <a:buNone/>
            </a:pPr>
            <a:r>
              <a:rPr lang="en-US" sz="2600" b="1" dirty="0">
                <a:solidFill>
                  <a:schemeClr val="tx1"/>
                </a:solidFill>
                <a:latin typeface="Arial" pitchFamily="34" charset="0"/>
                <a:ea typeface="Arial" pitchFamily="34" charset="-122"/>
                <a:cs typeface="Arial" pitchFamily="34" charset="-120"/>
              </a:rPr>
              <a:t>Dummy destination</a:t>
            </a:r>
            <a:endParaRPr lang="en-US" sz="2600" dirty="0"/>
          </a:p>
        </p:txBody>
      </p:sp>
      <p:sp>
        <p:nvSpPr>
          <p:cNvPr id="18" name="Text 14"/>
          <p:cNvSpPr txBox="1"/>
          <p:nvPr/>
        </p:nvSpPr>
        <p:spPr>
          <a:xfrm>
            <a:off x="6505956" y="4617720"/>
            <a:ext cx="4754880" cy="64008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Add a zero-cost destination. Its shipments are idle engineers.</a:t>
            </a:r>
            <a:endParaRPr lang="en-US" sz="1600" dirty="0"/>
          </a:p>
        </p:txBody>
      </p:sp>
      <p:sp>
        <p:nvSpPr>
          <p:cNvPr id="19" name="Text 15"/>
          <p:cNvSpPr txBox="1"/>
          <p:nvPr/>
        </p:nvSpPr>
        <p:spPr>
          <a:xfrm>
            <a:off x="6505956" y="5349240"/>
            <a:ext cx="4754880" cy="457200"/>
          </a:xfrm>
          <a:prstGeom prst="rect">
            <a:avLst/>
          </a:prstGeom>
          <a:noFill/>
          <a:ln/>
        </p:spPr>
        <p:txBody>
          <a:bodyPr wrap="square" lIns="0" tIns="0" rIns="0" bIns="0" rtlCol="0" anchor="t"/>
          <a:lstStyle/>
          <a:p>
            <a:pPr marL="0" indent="0">
              <a:buNone/>
            </a:pPr>
            <a:r>
              <a:rPr lang="en-US" sz="1600" b="1" dirty="0">
                <a:solidFill>
                  <a:schemeClr val="accent2"/>
                </a:solidFill>
                <a:latin typeface="Arial" pitchFamily="34" charset="0"/>
                <a:ea typeface="Arial" pitchFamily="34" charset="-122"/>
                <a:cs typeface="Arial" pitchFamily="34" charset="-120"/>
              </a:rPr>
              <a:t>Scenario 2: 20 (Company 3) engineers stay idle.</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CODE OVERVIEW</a:t>
            </a:r>
            <a:endParaRPr lang="en-US" sz="3600" dirty="0"/>
          </a:p>
        </p:txBody>
      </p:sp>
      <p:sp>
        <p:nvSpPr>
          <p:cNvPr id="3" name="Text 1"/>
          <p:cNvSpPr txBox="1"/>
          <p:nvPr/>
        </p:nvSpPr>
        <p:spPr>
          <a:xfrm>
            <a:off x="548640" y="1828800"/>
            <a:ext cx="11091672" cy="365760"/>
          </a:xfrm>
          <a:prstGeom prst="rect">
            <a:avLst/>
          </a:prstGeom>
          <a:noFill/>
          <a:ln/>
        </p:spPr>
        <p:txBody>
          <a:bodyPr wrap="square" lIns="0" tIns="0" rIns="0" bIns="0" rtlCol="0" anchor="t"/>
          <a:lstStyle/>
          <a:p>
            <a:pPr marL="0" indent="0">
              <a:buNone/>
            </a:pPr>
            <a:r>
              <a:rPr lang="en-US" sz="1600" dirty="0">
                <a:solidFill>
                  <a:schemeClr val="tx2"/>
                </a:solidFill>
                <a:latin typeface="Arial" pitchFamily="34" charset="0"/>
                <a:ea typeface="Arial" pitchFamily="34" charset="-122"/>
                <a:cs typeface="Arial" pitchFamily="34" charset="-120"/>
              </a:rPr>
              <a:t>Python with NumPy for matrices and Matplotlib for the cost charts.</a:t>
            </a:r>
            <a:endParaRPr lang="en-US" sz="1600" dirty="0"/>
          </a:p>
        </p:txBody>
      </p:sp>
      <p:sp>
        <p:nvSpPr>
          <p:cNvPr id="4" name="Stage card 1"/>
          <p:cNvSpPr/>
          <p:nvPr/>
        </p:nvSpPr>
        <p:spPr>
          <a:xfrm>
            <a:off x="548640" y="2377440"/>
            <a:ext cx="2642616" cy="3200400"/>
          </a:xfrm>
          <a:prstGeom prst="roundRect">
            <a:avLst>
              <a:gd name="adj" fmla="val 4152"/>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5" name="Text 3"/>
          <p:cNvSpPr txBox="1"/>
          <p:nvPr/>
        </p:nvSpPr>
        <p:spPr>
          <a:xfrm>
            <a:off x="731520" y="2542032"/>
            <a:ext cx="2286000" cy="274320"/>
          </a:xfrm>
          <a:prstGeom prst="rect">
            <a:avLst/>
          </a:prstGeom>
          <a:noFill/>
          <a:ln/>
        </p:spPr>
        <p:txBody>
          <a:bodyPr wrap="square" lIns="0" tIns="0" rIns="0" bIns="0" rtlCol="0" anchor="t"/>
          <a:lstStyle/>
          <a:p>
            <a:pPr marL="0" indent="0">
              <a:buNone/>
            </a:pPr>
            <a:r>
              <a:rPr lang="en-US" sz="1100" b="1" kern="0" spc="300" dirty="0">
                <a:solidFill>
                  <a:schemeClr val="accent2"/>
                </a:solidFill>
                <a:latin typeface="Arial" pitchFamily="34" charset="0"/>
                <a:ea typeface="Arial" pitchFamily="34" charset="-122"/>
                <a:cs typeface="Arial" pitchFamily="34" charset="-120"/>
              </a:rPr>
              <a:t>STAGE 01</a:t>
            </a:r>
            <a:endParaRPr lang="en-US" sz="1100" dirty="0"/>
          </a:p>
        </p:txBody>
      </p:sp>
      <p:sp>
        <p:nvSpPr>
          <p:cNvPr id="6" name="Text 4"/>
          <p:cNvSpPr txBox="1"/>
          <p:nvPr/>
        </p:nvSpPr>
        <p:spPr>
          <a:xfrm>
            <a:off x="731520" y="2834640"/>
            <a:ext cx="2286000" cy="36576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Data preparation</a:t>
            </a:r>
            <a:endParaRPr lang="en-US" sz="1800" dirty="0"/>
          </a:p>
        </p:txBody>
      </p:sp>
      <p:sp>
        <p:nvSpPr>
          <p:cNvPr id="7" name="Text 5"/>
          <p:cNvSpPr txBox="1"/>
          <p:nvPr/>
        </p:nvSpPr>
        <p:spPr>
          <a:xfrm>
            <a:off x="731520" y="3337560"/>
            <a:ext cx="2331720" cy="1097280"/>
          </a:xfrm>
          <a:prstGeom prst="rect">
            <a:avLst/>
          </a:prstGeom>
          <a:noFill/>
          <a:ln/>
        </p:spPr>
        <p:txBody>
          <a:bodyPr wrap="square" lIns="0" tIns="0" rIns="0" bIns="0" rtlCol="0" anchor="t"/>
          <a:lstStyle/>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balance_check</a:t>
            </a:r>
            <a:endParaRPr lang="en-US" sz="1200" dirty="0"/>
          </a:p>
        </p:txBody>
      </p:sp>
      <p:sp>
        <p:nvSpPr>
          <p:cNvPr id="8" name="Text 6"/>
          <p:cNvSpPr txBox="1"/>
          <p:nvPr/>
        </p:nvSpPr>
        <p:spPr>
          <a:xfrm>
            <a:off x="731520" y="4480560"/>
            <a:ext cx="2286000" cy="1005840"/>
          </a:xfrm>
          <a:prstGeom prst="rect">
            <a:avLst/>
          </a:prstGeom>
          <a:noFill/>
          <a:ln/>
        </p:spPr>
        <p:txBody>
          <a:bodyPr wrap="square" lIns="0" tIns="0" rIns="0" bIns="0" rtlCol="0" anchor="t"/>
          <a:lstStyle/>
          <a:p>
            <a:pPr marL="0" indent="0">
              <a:buNone/>
            </a:pPr>
            <a:r>
              <a:rPr lang="en-US" sz="1300" dirty="0">
                <a:solidFill>
                  <a:schemeClr val="tx2"/>
                </a:solidFill>
                <a:latin typeface="Arial" pitchFamily="34" charset="0"/>
                <a:ea typeface="Arial" pitchFamily="34" charset="-122"/>
                <a:cs typeface="Arial" pitchFamily="34" charset="-120"/>
              </a:rPr>
              <a:t>Checks supply vs demand and adds a dummy row or column.</a:t>
            </a:r>
            <a:endParaRPr lang="en-US" sz="1300" dirty="0"/>
          </a:p>
        </p:txBody>
      </p:sp>
      <p:sp>
        <p:nvSpPr>
          <p:cNvPr id="9" name="Stage card 2"/>
          <p:cNvSpPr/>
          <p:nvPr/>
        </p:nvSpPr>
        <p:spPr>
          <a:xfrm>
            <a:off x="3383280" y="2377440"/>
            <a:ext cx="2642616" cy="3200400"/>
          </a:xfrm>
          <a:prstGeom prst="roundRect">
            <a:avLst>
              <a:gd name="adj" fmla="val 4152"/>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0" name="Text 8"/>
          <p:cNvSpPr txBox="1"/>
          <p:nvPr/>
        </p:nvSpPr>
        <p:spPr>
          <a:xfrm>
            <a:off x="3566160" y="2542032"/>
            <a:ext cx="2286000" cy="274320"/>
          </a:xfrm>
          <a:prstGeom prst="rect">
            <a:avLst/>
          </a:prstGeom>
          <a:noFill/>
          <a:ln/>
        </p:spPr>
        <p:txBody>
          <a:bodyPr wrap="square" lIns="0" tIns="0" rIns="0" bIns="0" rtlCol="0" anchor="t"/>
          <a:lstStyle/>
          <a:p>
            <a:pPr marL="0" indent="0">
              <a:buNone/>
            </a:pPr>
            <a:r>
              <a:rPr lang="en-US" sz="1100" b="1" kern="0" spc="300" dirty="0">
                <a:solidFill>
                  <a:schemeClr val="accent2"/>
                </a:solidFill>
                <a:latin typeface="Arial" pitchFamily="34" charset="0"/>
                <a:ea typeface="Arial" pitchFamily="34" charset="-122"/>
                <a:cs typeface="Arial" pitchFamily="34" charset="-120"/>
              </a:rPr>
              <a:t>STAGE 02</a:t>
            </a:r>
            <a:endParaRPr lang="en-US" sz="1100" dirty="0"/>
          </a:p>
        </p:txBody>
      </p:sp>
      <p:sp>
        <p:nvSpPr>
          <p:cNvPr id="11" name="Text 9"/>
          <p:cNvSpPr txBox="1"/>
          <p:nvPr/>
        </p:nvSpPr>
        <p:spPr>
          <a:xfrm>
            <a:off x="3566160" y="2834640"/>
            <a:ext cx="2286000" cy="36576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Initial solvers</a:t>
            </a:r>
            <a:endParaRPr lang="en-US" sz="1800" dirty="0"/>
          </a:p>
        </p:txBody>
      </p:sp>
      <p:sp>
        <p:nvSpPr>
          <p:cNvPr id="12" name="Text 10"/>
          <p:cNvSpPr txBox="1"/>
          <p:nvPr/>
        </p:nvSpPr>
        <p:spPr>
          <a:xfrm>
            <a:off x="3566160" y="3337560"/>
            <a:ext cx="2331720" cy="1097280"/>
          </a:xfrm>
          <a:prstGeom prst="rect">
            <a:avLst/>
          </a:prstGeom>
          <a:noFill/>
          <a:ln/>
        </p:spPr>
        <p:txBody>
          <a:bodyPr wrap="square" lIns="0" tIns="0" rIns="0" bIns="0" rtlCol="0" anchor="t"/>
          <a:lstStyle/>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vogel_approximation</a:t>
            </a:r>
            <a:endParaRPr lang="en-US" sz="1200" dirty="0"/>
          </a:p>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least_cost_method</a:t>
            </a:r>
            <a:endParaRPr lang="en-US" sz="1200" dirty="0"/>
          </a:p>
        </p:txBody>
      </p:sp>
      <p:sp>
        <p:nvSpPr>
          <p:cNvPr id="13" name="Text 11"/>
          <p:cNvSpPr txBox="1"/>
          <p:nvPr/>
        </p:nvSpPr>
        <p:spPr>
          <a:xfrm>
            <a:off x="3566160" y="4480560"/>
            <a:ext cx="2286000" cy="1005840"/>
          </a:xfrm>
          <a:prstGeom prst="rect">
            <a:avLst/>
          </a:prstGeom>
          <a:noFill/>
          <a:ln/>
        </p:spPr>
        <p:txBody>
          <a:bodyPr wrap="square" lIns="0" tIns="0" rIns="0" bIns="0" rtlCol="0" anchor="t"/>
          <a:lstStyle/>
          <a:p>
            <a:pPr marL="0" indent="0">
              <a:buNone/>
            </a:pPr>
            <a:r>
              <a:rPr lang="en-US" sz="1300" dirty="0">
                <a:solidFill>
                  <a:schemeClr val="tx2"/>
                </a:solidFill>
                <a:latin typeface="Arial" pitchFamily="34" charset="0"/>
                <a:ea typeface="Arial" pitchFamily="34" charset="-122"/>
                <a:cs typeface="Arial" pitchFamily="34" charset="-120"/>
              </a:rPr>
              <a:t>Builds and compares two starting plans.</a:t>
            </a:r>
            <a:endParaRPr lang="en-US" sz="1300" dirty="0"/>
          </a:p>
        </p:txBody>
      </p:sp>
      <p:sp>
        <p:nvSpPr>
          <p:cNvPr id="14" name="Stage card 3"/>
          <p:cNvSpPr/>
          <p:nvPr/>
        </p:nvSpPr>
        <p:spPr>
          <a:xfrm>
            <a:off x="6217920" y="2377440"/>
            <a:ext cx="2642616" cy="3200400"/>
          </a:xfrm>
          <a:prstGeom prst="roundRect">
            <a:avLst>
              <a:gd name="adj" fmla="val 4152"/>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5" name="Text 13"/>
          <p:cNvSpPr txBox="1"/>
          <p:nvPr/>
        </p:nvSpPr>
        <p:spPr>
          <a:xfrm>
            <a:off x="6400800" y="2542032"/>
            <a:ext cx="2286000" cy="274320"/>
          </a:xfrm>
          <a:prstGeom prst="rect">
            <a:avLst/>
          </a:prstGeom>
          <a:noFill/>
          <a:ln/>
        </p:spPr>
        <p:txBody>
          <a:bodyPr wrap="square" lIns="0" tIns="0" rIns="0" bIns="0" rtlCol="0" anchor="t"/>
          <a:lstStyle/>
          <a:p>
            <a:pPr marL="0" indent="0">
              <a:buNone/>
            </a:pPr>
            <a:r>
              <a:rPr lang="en-US" sz="1100" b="1" kern="0" spc="300" dirty="0">
                <a:solidFill>
                  <a:schemeClr val="accent2"/>
                </a:solidFill>
                <a:latin typeface="Arial" pitchFamily="34" charset="0"/>
                <a:ea typeface="Arial" pitchFamily="34" charset="-122"/>
                <a:cs typeface="Arial" pitchFamily="34" charset="-120"/>
              </a:rPr>
              <a:t>STAGE 03</a:t>
            </a:r>
            <a:endParaRPr lang="en-US" sz="1100" dirty="0"/>
          </a:p>
        </p:txBody>
      </p:sp>
      <p:sp>
        <p:nvSpPr>
          <p:cNvPr id="16" name="Text 14"/>
          <p:cNvSpPr txBox="1"/>
          <p:nvPr/>
        </p:nvSpPr>
        <p:spPr>
          <a:xfrm>
            <a:off x="6400800" y="2834640"/>
            <a:ext cx="2286000" cy="36576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Optimization</a:t>
            </a:r>
            <a:endParaRPr lang="en-US" sz="1800" dirty="0"/>
          </a:p>
        </p:txBody>
      </p:sp>
      <p:sp>
        <p:nvSpPr>
          <p:cNvPr id="17" name="Text 15"/>
          <p:cNvSpPr txBox="1"/>
          <p:nvPr/>
        </p:nvSpPr>
        <p:spPr>
          <a:xfrm>
            <a:off x="6400800" y="3337560"/>
            <a:ext cx="2331720" cy="1097280"/>
          </a:xfrm>
          <a:prstGeom prst="rect">
            <a:avLst/>
          </a:prstGeom>
          <a:noFill/>
          <a:ln/>
        </p:spPr>
        <p:txBody>
          <a:bodyPr wrap="square" lIns="0" tIns="0" rIns="0" bIns="0" rtlCol="0" anchor="t"/>
          <a:lstStyle/>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complete_basis</a:t>
            </a:r>
            <a:endParaRPr lang="en-US" sz="1200" dirty="0"/>
          </a:p>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potentials</a:t>
            </a:r>
            <a:endParaRPr lang="en-US" sz="1200" dirty="0"/>
          </a:p>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loop_path</a:t>
            </a:r>
            <a:endParaRPr lang="en-US" sz="1200" dirty="0"/>
          </a:p>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modi</a:t>
            </a:r>
            <a:endParaRPr lang="en-US" sz="1200" dirty="0"/>
          </a:p>
        </p:txBody>
      </p:sp>
      <p:sp>
        <p:nvSpPr>
          <p:cNvPr id="18" name="Text 16"/>
          <p:cNvSpPr txBox="1"/>
          <p:nvPr/>
        </p:nvSpPr>
        <p:spPr>
          <a:xfrm>
            <a:off x="6400800" y="4480560"/>
            <a:ext cx="2286000" cy="1005840"/>
          </a:xfrm>
          <a:prstGeom prst="rect">
            <a:avLst/>
          </a:prstGeom>
          <a:noFill/>
          <a:ln/>
        </p:spPr>
        <p:txBody>
          <a:bodyPr wrap="square" lIns="0" tIns="0" rIns="0" bIns="0" rtlCol="0" anchor="t"/>
          <a:lstStyle/>
          <a:p>
            <a:pPr marL="0" indent="0">
              <a:buNone/>
            </a:pPr>
            <a:r>
              <a:rPr lang="en-US" sz="1300" dirty="0">
                <a:solidFill>
                  <a:schemeClr val="tx2"/>
                </a:solidFill>
                <a:latin typeface="Arial" pitchFamily="34" charset="0"/>
                <a:ea typeface="Arial" pitchFamily="34" charset="-122"/>
                <a:cs typeface="Arial" pitchFamily="34" charset="-120"/>
              </a:rPr>
              <a:t>Tests opportunity costs and iterates to optimal.</a:t>
            </a:r>
            <a:endParaRPr lang="en-US" sz="1300" dirty="0"/>
          </a:p>
        </p:txBody>
      </p:sp>
      <p:sp>
        <p:nvSpPr>
          <p:cNvPr id="19" name="Stage card 4"/>
          <p:cNvSpPr/>
          <p:nvPr/>
        </p:nvSpPr>
        <p:spPr>
          <a:xfrm>
            <a:off x="9052560" y="2377440"/>
            <a:ext cx="2642616" cy="3200400"/>
          </a:xfrm>
          <a:prstGeom prst="roundRect">
            <a:avLst>
              <a:gd name="adj" fmla="val 4152"/>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20" name="Text 18"/>
          <p:cNvSpPr txBox="1"/>
          <p:nvPr/>
        </p:nvSpPr>
        <p:spPr>
          <a:xfrm>
            <a:off x="9235440" y="2542032"/>
            <a:ext cx="2286000" cy="274320"/>
          </a:xfrm>
          <a:prstGeom prst="rect">
            <a:avLst/>
          </a:prstGeom>
          <a:noFill/>
          <a:ln/>
        </p:spPr>
        <p:txBody>
          <a:bodyPr wrap="square" lIns="0" tIns="0" rIns="0" bIns="0" rtlCol="0" anchor="t"/>
          <a:lstStyle/>
          <a:p>
            <a:pPr marL="0" indent="0">
              <a:buNone/>
            </a:pPr>
            <a:r>
              <a:rPr lang="en-US" sz="1100" b="1" kern="0" spc="300" dirty="0">
                <a:solidFill>
                  <a:schemeClr val="accent2"/>
                </a:solidFill>
                <a:latin typeface="Arial" pitchFamily="34" charset="0"/>
                <a:ea typeface="Arial" pitchFamily="34" charset="-122"/>
                <a:cs typeface="Arial" pitchFamily="34" charset="-120"/>
              </a:rPr>
              <a:t>STAGE 04</a:t>
            </a:r>
            <a:endParaRPr lang="en-US" sz="1100" dirty="0"/>
          </a:p>
        </p:txBody>
      </p:sp>
      <p:sp>
        <p:nvSpPr>
          <p:cNvPr id="21" name="Text 19"/>
          <p:cNvSpPr txBox="1"/>
          <p:nvPr/>
        </p:nvSpPr>
        <p:spPr>
          <a:xfrm>
            <a:off x="9235440" y="2834640"/>
            <a:ext cx="2286000" cy="365760"/>
          </a:xfrm>
          <a:prstGeom prst="rect">
            <a:avLst/>
          </a:prstGeom>
          <a:noFill/>
          <a:ln/>
        </p:spPr>
        <p:txBody>
          <a:bodyPr wrap="square" lIns="0" tIns="0" rIns="0" bIns="0" rtlCol="0" anchor="t"/>
          <a:lstStyle/>
          <a:p>
            <a:pPr marL="0" indent="0">
              <a:buNone/>
            </a:pPr>
            <a:r>
              <a:rPr lang="en-US" sz="1800" b="1" dirty="0">
                <a:solidFill>
                  <a:schemeClr val="tx1"/>
                </a:solidFill>
                <a:latin typeface="Arial" pitchFamily="34" charset="0"/>
                <a:ea typeface="Arial" pitchFamily="34" charset="-122"/>
                <a:cs typeface="Arial" pitchFamily="34" charset="-120"/>
              </a:rPr>
              <a:t>Output</a:t>
            </a:r>
            <a:endParaRPr lang="en-US" sz="1800" dirty="0"/>
          </a:p>
        </p:txBody>
      </p:sp>
      <p:sp>
        <p:nvSpPr>
          <p:cNvPr id="22" name="Text 20"/>
          <p:cNvSpPr txBox="1"/>
          <p:nvPr/>
        </p:nvSpPr>
        <p:spPr>
          <a:xfrm>
            <a:off x="9235440" y="3337560"/>
            <a:ext cx="2331720" cy="1097280"/>
          </a:xfrm>
          <a:prstGeom prst="rect">
            <a:avLst/>
          </a:prstGeom>
          <a:noFill/>
          <a:ln/>
        </p:spPr>
        <p:txBody>
          <a:bodyPr wrap="square" lIns="0" tIns="0" rIns="0" bIns="0" rtlCol="0" anchor="t"/>
          <a:lstStyle/>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solve_case</a:t>
            </a:r>
            <a:endParaRPr lang="en-US" sz="1200" dirty="0"/>
          </a:p>
          <a:p>
            <a:pPr marL="0" indent="0">
              <a:spcAft>
                <a:spcPts val="400"/>
              </a:spcAft>
              <a:buNone/>
            </a:pPr>
            <a:r>
              <a:rPr lang="en-US" sz="1200" b="1" dirty="0">
                <a:solidFill>
                  <a:schemeClr val="accent2"/>
                </a:solidFill>
                <a:latin typeface="Courier New" pitchFamily="34" charset="0"/>
                <a:ea typeface="Courier New" pitchFamily="34" charset="-122"/>
                <a:cs typeface="Courier New" pitchFamily="34" charset="-120"/>
              </a:rPr>
              <a:t>plot_case</a:t>
            </a:r>
            <a:endParaRPr lang="en-US" sz="1200" dirty="0"/>
          </a:p>
        </p:txBody>
      </p:sp>
      <p:sp>
        <p:nvSpPr>
          <p:cNvPr id="23" name="Text 21"/>
          <p:cNvSpPr txBox="1"/>
          <p:nvPr/>
        </p:nvSpPr>
        <p:spPr>
          <a:xfrm>
            <a:off x="9235440" y="4480560"/>
            <a:ext cx="2286000" cy="1005840"/>
          </a:xfrm>
          <a:prstGeom prst="rect">
            <a:avLst/>
          </a:prstGeom>
          <a:noFill/>
          <a:ln/>
        </p:spPr>
        <p:txBody>
          <a:bodyPr wrap="square" lIns="0" tIns="0" rIns="0" bIns="0" rtlCol="0" anchor="t"/>
          <a:lstStyle/>
          <a:p>
            <a:pPr marL="0" indent="0">
              <a:buNone/>
            </a:pPr>
            <a:r>
              <a:rPr lang="en-US" sz="1300" dirty="0">
                <a:solidFill>
                  <a:schemeClr val="tx2"/>
                </a:solidFill>
                <a:latin typeface="Arial" pitchFamily="34" charset="0"/>
                <a:ea typeface="Arial" pitchFamily="34" charset="-122"/>
                <a:cs typeface="Arial" pitchFamily="34" charset="-120"/>
              </a:rPr>
              <a:t>Prints allocations and plots three charts per scenario.</a:t>
            </a:r>
            <a:endParaRPr lang="en-US" sz="1300" dirty="0"/>
          </a:p>
        </p:txBody>
      </p:sp>
      <p:sp>
        <p:nvSpPr>
          <p:cNvPr id="24" name="Text 22"/>
          <p:cNvSpPr txBox="1"/>
          <p:nvPr/>
        </p:nvSpPr>
        <p:spPr>
          <a:xfrm>
            <a:off x="548640" y="5852160"/>
            <a:ext cx="11091672" cy="320040"/>
          </a:xfrm>
          <a:prstGeom prst="rect">
            <a:avLst/>
          </a:prstGeom>
          <a:noFill/>
          <a:ln/>
        </p:spPr>
        <p:txBody>
          <a:bodyPr wrap="square" lIns="0" tIns="0" rIns="0" bIns="0" rtlCol="0" anchor="t"/>
          <a:lstStyle/>
          <a:p>
            <a:pPr marL="0" indent="0">
              <a:buNone/>
            </a:pPr>
            <a:r>
              <a:rPr lang="en-US" sz="1400" dirty="0">
                <a:solidFill>
                  <a:schemeClr val="tx2"/>
                </a:solidFill>
                <a:latin typeface="Courier New" pitchFamily="34" charset="0"/>
                <a:ea typeface="Courier New" pitchFamily="34" charset="-122"/>
                <a:cs typeface="Courier New" pitchFamily="34" charset="-120"/>
              </a:rPr>
              <a:t>run_three_scenarios() solves all three scenarios and plots the cost comparisons.</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RESULTS: TOTAL COST</a:t>
            </a:r>
            <a:endParaRPr lang="en-US" sz="3600" dirty="0"/>
          </a:p>
        </p:txBody>
      </p:sp>
      <p:sp>
        <p:nvSpPr>
          <p:cNvPr id="3" name="Chart card"/>
          <p:cNvSpPr/>
          <p:nvPr/>
        </p:nvSpPr>
        <p:spPr>
          <a:xfrm>
            <a:off x="548640" y="1874520"/>
            <a:ext cx="7040880" cy="4251960"/>
          </a:xfrm>
          <a:prstGeom prst="roundRect">
            <a:avLst>
              <a:gd name="adj" fmla="val 2581"/>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graphicFrame>
        <p:nvGraphicFramePr>
          <p:cNvPr id="4" name="Chart 0"/>
          <p:cNvGraphicFramePr/>
          <p:nvPr/>
        </p:nvGraphicFramePr>
        <p:xfrm>
          <a:off x="685800" y="1965960"/>
          <a:ext cx="676656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5" name="Steps card 1"/>
          <p:cNvSpPr/>
          <p:nvPr/>
        </p:nvSpPr>
        <p:spPr>
          <a:xfrm>
            <a:off x="7863840" y="1874520"/>
            <a:ext cx="3776472" cy="1280160"/>
          </a:xfrm>
          <a:prstGeom prst="roundRect">
            <a:avLst>
              <a:gd name="adj" fmla="val 8571"/>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6" name="Text 3"/>
          <p:cNvSpPr txBox="1"/>
          <p:nvPr/>
        </p:nvSpPr>
        <p:spPr>
          <a:xfrm>
            <a:off x="8092440" y="2011680"/>
            <a:ext cx="822960" cy="1005840"/>
          </a:xfrm>
          <a:prstGeom prst="rect">
            <a:avLst/>
          </a:prstGeom>
          <a:noFill/>
          <a:ln/>
        </p:spPr>
        <p:txBody>
          <a:bodyPr wrap="square" lIns="0" tIns="0" rIns="0" bIns="0"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5</a:t>
            </a:r>
            <a:endParaRPr lang="en-US" sz="4400" dirty="0"/>
          </a:p>
        </p:txBody>
      </p:sp>
      <p:sp>
        <p:nvSpPr>
          <p:cNvPr id="7" name="Text 4"/>
          <p:cNvSpPr txBox="1"/>
          <p:nvPr/>
        </p:nvSpPr>
        <p:spPr>
          <a:xfrm>
            <a:off x="9006840" y="2057400"/>
            <a:ext cx="256032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Arial" pitchFamily="34" charset="0"/>
                <a:ea typeface="Arial" pitchFamily="34" charset="-122"/>
                <a:cs typeface="Arial" pitchFamily="34" charset="-120"/>
              </a:rPr>
              <a:t>MODI steps</a:t>
            </a:r>
            <a:endParaRPr lang="en-US" sz="1200" dirty="0"/>
          </a:p>
        </p:txBody>
      </p:sp>
      <p:sp>
        <p:nvSpPr>
          <p:cNvPr id="8" name="Text 5"/>
          <p:cNvSpPr txBox="1"/>
          <p:nvPr/>
        </p:nvSpPr>
        <p:spPr>
          <a:xfrm>
            <a:off x="9006840" y="2350008"/>
            <a:ext cx="2560320" cy="36576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Demand &gt; Supply</a:t>
            </a:r>
            <a:endParaRPr lang="en-US" sz="1600" dirty="0"/>
          </a:p>
        </p:txBody>
      </p:sp>
      <p:sp>
        <p:nvSpPr>
          <p:cNvPr id="9" name="Text 6"/>
          <p:cNvSpPr txBox="1"/>
          <p:nvPr/>
        </p:nvSpPr>
        <p:spPr>
          <a:xfrm>
            <a:off x="9006840" y="2743200"/>
            <a:ext cx="2560320" cy="27432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VAM 1,310 → MODI 1,060 EGP</a:t>
            </a:r>
            <a:endParaRPr lang="en-US" sz="1100" dirty="0"/>
          </a:p>
        </p:txBody>
      </p:sp>
      <p:sp>
        <p:nvSpPr>
          <p:cNvPr id="10" name="Steps card 2"/>
          <p:cNvSpPr/>
          <p:nvPr/>
        </p:nvSpPr>
        <p:spPr>
          <a:xfrm>
            <a:off x="7863840" y="3337560"/>
            <a:ext cx="3776472" cy="1280160"/>
          </a:xfrm>
          <a:prstGeom prst="roundRect">
            <a:avLst>
              <a:gd name="adj" fmla="val 8571"/>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1" name="Text 8"/>
          <p:cNvSpPr txBox="1"/>
          <p:nvPr/>
        </p:nvSpPr>
        <p:spPr>
          <a:xfrm>
            <a:off x="8092440" y="3474720"/>
            <a:ext cx="822960" cy="1005840"/>
          </a:xfrm>
          <a:prstGeom prst="rect">
            <a:avLst/>
          </a:prstGeom>
          <a:noFill/>
          <a:ln/>
        </p:spPr>
        <p:txBody>
          <a:bodyPr wrap="square" lIns="0" tIns="0" rIns="0" bIns="0"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2</a:t>
            </a:r>
            <a:endParaRPr lang="en-US" sz="4400" dirty="0"/>
          </a:p>
        </p:txBody>
      </p:sp>
      <p:sp>
        <p:nvSpPr>
          <p:cNvPr id="12" name="Text 9"/>
          <p:cNvSpPr txBox="1"/>
          <p:nvPr/>
        </p:nvSpPr>
        <p:spPr>
          <a:xfrm>
            <a:off x="9006840" y="3520440"/>
            <a:ext cx="256032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Arial" pitchFamily="34" charset="0"/>
                <a:ea typeface="Arial" pitchFamily="34" charset="-122"/>
                <a:cs typeface="Arial" pitchFamily="34" charset="-120"/>
              </a:rPr>
              <a:t>MODI steps</a:t>
            </a:r>
            <a:endParaRPr lang="en-US" sz="1200" dirty="0"/>
          </a:p>
        </p:txBody>
      </p:sp>
      <p:sp>
        <p:nvSpPr>
          <p:cNvPr id="13" name="Text 10"/>
          <p:cNvSpPr txBox="1"/>
          <p:nvPr/>
        </p:nvSpPr>
        <p:spPr>
          <a:xfrm>
            <a:off x="9006840" y="3813048"/>
            <a:ext cx="2560320" cy="36576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Supply &gt; Demand</a:t>
            </a:r>
            <a:endParaRPr lang="en-US" sz="1600" dirty="0"/>
          </a:p>
        </p:txBody>
      </p:sp>
      <p:sp>
        <p:nvSpPr>
          <p:cNvPr id="14" name="Text 11"/>
          <p:cNvSpPr txBox="1"/>
          <p:nvPr/>
        </p:nvSpPr>
        <p:spPr>
          <a:xfrm>
            <a:off x="9006840" y="4206240"/>
            <a:ext cx="2560320" cy="27432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VAM 835 → MODI 780 EGP</a:t>
            </a:r>
            <a:endParaRPr lang="en-US" sz="1100" dirty="0"/>
          </a:p>
        </p:txBody>
      </p:sp>
      <p:sp>
        <p:nvSpPr>
          <p:cNvPr id="15" name="Steps card 3"/>
          <p:cNvSpPr/>
          <p:nvPr/>
        </p:nvSpPr>
        <p:spPr>
          <a:xfrm>
            <a:off x="7863840" y="4800600"/>
            <a:ext cx="3776472" cy="1280160"/>
          </a:xfrm>
          <a:prstGeom prst="roundRect">
            <a:avLst>
              <a:gd name="adj" fmla="val 8571"/>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6" name="Text 13"/>
          <p:cNvSpPr txBox="1"/>
          <p:nvPr/>
        </p:nvSpPr>
        <p:spPr>
          <a:xfrm>
            <a:off x="8092440" y="4937760"/>
            <a:ext cx="822960" cy="1005840"/>
          </a:xfrm>
          <a:prstGeom prst="rect">
            <a:avLst/>
          </a:prstGeom>
          <a:noFill/>
          <a:ln/>
        </p:spPr>
        <p:txBody>
          <a:bodyPr wrap="square" lIns="0" tIns="0" rIns="0" bIns="0" rtlCol="0" anchor="ctr"/>
          <a:lstStyle/>
          <a:p>
            <a:pPr marL="0" indent="0" algn="ctr">
              <a:buNone/>
            </a:pPr>
            <a:r>
              <a:rPr lang="en-US" sz="4400" b="1" dirty="0">
                <a:solidFill>
                  <a:schemeClr val="accent1"/>
                </a:solidFill>
                <a:latin typeface="Arial" pitchFamily="34" charset="0"/>
                <a:ea typeface="Arial" pitchFamily="34" charset="-122"/>
                <a:cs typeface="Arial" pitchFamily="34" charset="-120"/>
              </a:rPr>
              <a:t>6</a:t>
            </a:r>
            <a:endParaRPr lang="en-US" sz="4400" dirty="0"/>
          </a:p>
        </p:txBody>
      </p:sp>
      <p:sp>
        <p:nvSpPr>
          <p:cNvPr id="17" name="Text 14"/>
          <p:cNvSpPr txBox="1"/>
          <p:nvPr/>
        </p:nvSpPr>
        <p:spPr>
          <a:xfrm>
            <a:off x="9006840" y="4983480"/>
            <a:ext cx="256032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Arial" pitchFamily="34" charset="0"/>
                <a:ea typeface="Arial" pitchFamily="34" charset="-122"/>
                <a:cs typeface="Arial" pitchFamily="34" charset="-120"/>
              </a:rPr>
              <a:t>MODI steps</a:t>
            </a:r>
            <a:endParaRPr lang="en-US" sz="1200" dirty="0"/>
          </a:p>
        </p:txBody>
      </p:sp>
      <p:sp>
        <p:nvSpPr>
          <p:cNvPr id="18" name="Text 15"/>
          <p:cNvSpPr txBox="1"/>
          <p:nvPr/>
        </p:nvSpPr>
        <p:spPr>
          <a:xfrm>
            <a:off x="9006840" y="5276088"/>
            <a:ext cx="2560320" cy="36576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Balanced</a:t>
            </a:r>
            <a:endParaRPr lang="en-US" sz="1600" dirty="0"/>
          </a:p>
        </p:txBody>
      </p:sp>
      <p:sp>
        <p:nvSpPr>
          <p:cNvPr id="19" name="Text 16"/>
          <p:cNvSpPr txBox="1"/>
          <p:nvPr/>
        </p:nvSpPr>
        <p:spPr>
          <a:xfrm>
            <a:off x="9006840" y="5669280"/>
            <a:ext cx="2560320" cy="27432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VAM 1,150 → MODI 1,100 EGP</a:t>
            </a:r>
            <a:endParaRPr lang="en-US" sz="11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VAM: STEP BY STEP</a:t>
            </a:r>
            <a:endParaRPr lang="en-US" sz="3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
        <p:nvSpPr>
          <p:cNvPr id="26" name="TextBox 25"/>
          <p:cNvSpPr txBox="1"/>
          <p:nvPr/>
        </p:nvSpPr>
        <p:spPr>
          <a:xfrm>
            <a:off x="548640" y="1783080"/>
            <a:ext cx="11091672" cy="365760"/>
          </a:xfrm>
          <a:prstGeom prst="rect">
            <a:avLst/>
          </a:prstGeom>
          <a:noFill/>
        </p:spPr>
        <p:txBody>
          <a:bodyPr wrap="square" lIns="0" tIns="0" rIns="0" bIns="0" anchor="t">
            <a:spAutoFit/>
          </a:bodyPr>
          <a:lstStyle/>
          <a:p>
            <a:pPr algn="l"/>
            <a:r>
              <a:rPr sz="1600" b="0">
                <a:solidFill>
                  <a:srgbClr val="5F5F6B"/>
                </a:solidFill>
                <a:latin typeface="Arial"/>
              </a:rPr>
              <a:t>Vogel's Approximation Method builds a smart starting plan by protecting the routes we can't afford to skip.</a:t>
            </a:r>
          </a:p>
        </p:txBody>
      </p:sp>
      <p:sp>
        <p:nvSpPr>
          <p:cNvPr id="27" name="Oval 26"/>
          <p:cNvSpPr/>
          <p:nvPr/>
        </p:nvSpPr>
        <p:spPr>
          <a:xfrm>
            <a:off x="548640" y="233172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1</a:t>
            </a:r>
          </a:p>
        </p:txBody>
      </p:sp>
      <p:sp>
        <p:nvSpPr>
          <p:cNvPr id="28" name="TextBox 27"/>
          <p:cNvSpPr txBox="1"/>
          <p:nvPr/>
        </p:nvSpPr>
        <p:spPr>
          <a:xfrm>
            <a:off x="1188720" y="2313432"/>
            <a:ext cx="5943600" cy="586740"/>
          </a:xfrm>
          <a:prstGeom prst="rect">
            <a:avLst/>
          </a:prstGeom>
          <a:noFill/>
        </p:spPr>
        <p:txBody>
          <a:bodyPr wrap="square" lIns="0" tIns="0" rIns="0" bIns="0" anchor="t">
            <a:spAutoFit/>
          </a:bodyPr>
          <a:lstStyle/>
          <a:p>
            <a:pPr algn="l"/>
            <a:r>
              <a:rPr sz="1500" b="1">
                <a:solidFill>
                  <a:srgbClr val="1E1E2C"/>
                </a:solidFill>
                <a:latin typeface="Arial"/>
              </a:rPr>
              <a:t>Find two cheapest. </a:t>
            </a:r>
            <a:r>
              <a:rPr sz="1500" b="0">
                <a:solidFill>
                  <a:srgbClr val="1E1E2C"/>
                </a:solidFill>
                <a:latin typeface="Arial"/>
              </a:rPr>
              <a:t>For every row and column, find its two cheapest costs.</a:t>
            </a:r>
          </a:p>
        </p:txBody>
      </p:sp>
      <p:sp>
        <p:nvSpPr>
          <p:cNvPr id="29" name="Oval 28"/>
          <p:cNvSpPr/>
          <p:nvPr/>
        </p:nvSpPr>
        <p:spPr>
          <a:xfrm>
            <a:off x="548640" y="296418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2</a:t>
            </a:r>
          </a:p>
        </p:txBody>
      </p:sp>
      <p:sp>
        <p:nvSpPr>
          <p:cNvPr id="30" name="TextBox 29"/>
          <p:cNvSpPr txBox="1"/>
          <p:nvPr/>
        </p:nvSpPr>
        <p:spPr>
          <a:xfrm>
            <a:off x="1188720" y="2945892"/>
            <a:ext cx="5943600" cy="586740"/>
          </a:xfrm>
          <a:prstGeom prst="rect">
            <a:avLst/>
          </a:prstGeom>
          <a:noFill/>
        </p:spPr>
        <p:txBody>
          <a:bodyPr wrap="square" lIns="0" tIns="0" rIns="0" bIns="0" anchor="t">
            <a:spAutoFit/>
          </a:bodyPr>
          <a:lstStyle/>
          <a:p>
            <a:pPr algn="l"/>
            <a:r>
              <a:rPr sz="1500" b="1">
                <a:solidFill>
                  <a:srgbClr val="1E1E2C"/>
                </a:solidFill>
                <a:latin typeface="Arial"/>
              </a:rPr>
              <a:t>Penalty. </a:t>
            </a:r>
            <a:r>
              <a:rPr sz="1500" b="0">
                <a:solidFill>
                  <a:srgbClr val="1E1E2C"/>
                </a:solidFill>
                <a:latin typeface="Arial"/>
              </a:rPr>
              <a:t>Penalty = gap between them: how much we lose if we miss the cheapest.</a:t>
            </a:r>
          </a:p>
        </p:txBody>
      </p:sp>
      <p:sp>
        <p:nvSpPr>
          <p:cNvPr id="31" name="Oval 30"/>
          <p:cNvSpPr/>
          <p:nvPr/>
        </p:nvSpPr>
        <p:spPr>
          <a:xfrm>
            <a:off x="548640" y="359664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3</a:t>
            </a:r>
          </a:p>
        </p:txBody>
      </p:sp>
      <p:sp>
        <p:nvSpPr>
          <p:cNvPr id="32" name="TextBox 31"/>
          <p:cNvSpPr txBox="1"/>
          <p:nvPr/>
        </p:nvSpPr>
        <p:spPr>
          <a:xfrm>
            <a:off x="1188720" y="3578352"/>
            <a:ext cx="5943600" cy="586740"/>
          </a:xfrm>
          <a:prstGeom prst="rect">
            <a:avLst/>
          </a:prstGeom>
          <a:noFill/>
        </p:spPr>
        <p:txBody>
          <a:bodyPr wrap="square" lIns="0" tIns="0" rIns="0" bIns="0" anchor="t">
            <a:spAutoFit/>
          </a:bodyPr>
          <a:lstStyle/>
          <a:p>
            <a:pPr algn="l"/>
            <a:r>
              <a:rPr sz="1500" b="1">
                <a:solidFill>
                  <a:srgbClr val="1E1E2C"/>
                </a:solidFill>
                <a:latin typeface="Arial"/>
              </a:rPr>
              <a:t>Pick the biggest. </a:t>
            </a:r>
            <a:r>
              <a:rPr sz="1500" b="0">
                <a:solidFill>
                  <a:srgbClr val="1E1E2C"/>
                </a:solidFill>
                <a:latin typeface="Arial"/>
              </a:rPr>
              <a:t>Choose the row or column with the highest penalty.</a:t>
            </a:r>
          </a:p>
        </p:txBody>
      </p:sp>
      <p:sp>
        <p:nvSpPr>
          <p:cNvPr id="33" name="Oval 32"/>
          <p:cNvSpPr/>
          <p:nvPr/>
        </p:nvSpPr>
        <p:spPr>
          <a:xfrm>
            <a:off x="548640" y="422910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4</a:t>
            </a:r>
          </a:p>
        </p:txBody>
      </p:sp>
      <p:sp>
        <p:nvSpPr>
          <p:cNvPr id="34" name="TextBox 33"/>
          <p:cNvSpPr txBox="1"/>
          <p:nvPr/>
        </p:nvSpPr>
        <p:spPr>
          <a:xfrm>
            <a:off x="1188720" y="4210812"/>
            <a:ext cx="5943600" cy="586740"/>
          </a:xfrm>
          <a:prstGeom prst="rect">
            <a:avLst/>
          </a:prstGeom>
          <a:noFill/>
        </p:spPr>
        <p:txBody>
          <a:bodyPr wrap="square" lIns="0" tIns="0" rIns="0" bIns="0" anchor="t">
            <a:spAutoFit/>
          </a:bodyPr>
          <a:lstStyle/>
          <a:p>
            <a:pPr algn="l"/>
            <a:r>
              <a:rPr sz="1500" b="1">
                <a:solidFill>
                  <a:srgbClr val="1E1E2C"/>
                </a:solidFill>
                <a:latin typeface="Arial"/>
              </a:rPr>
              <a:t>Fill the cheapest cell. </a:t>
            </a:r>
            <a:r>
              <a:rPr sz="1500" b="0">
                <a:solidFill>
                  <a:srgbClr val="1E1E2C"/>
                </a:solidFill>
                <a:latin typeface="Arial"/>
              </a:rPr>
              <a:t>Send as many engineers as possible to its cheapest cell.</a:t>
            </a:r>
          </a:p>
        </p:txBody>
      </p:sp>
      <p:sp>
        <p:nvSpPr>
          <p:cNvPr id="35" name="Oval 34"/>
          <p:cNvSpPr/>
          <p:nvPr/>
        </p:nvSpPr>
        <p:spPr>
          <a:xfrm>
            <a:off x="548640" y="486156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5</a:t>
            </a:r>
          </a:p>
        </p:txBody>
      </p:sp>
      <p:sp>
        <p:nvSpPr>
          <p:cNvPr id="36" name="TextBox 35"/>
          <p:cNvSpPr txBox="1"/>
          <p:nvPr/>
        </p:nvSpPr>
        <p:spPr>
          <a:xfrm>
            <a:off x="1188720" y="4843272"/>
            <a:ext cx="5943600" cy="586740"/>
          </a:xfrm>
          <a:prstGeom prst="rect">
            <a:avLst/>
          </a:prstGeom>
          <a:noFill/>
        </p:spPr>
        <p:txBody>
          <a:bodyPr wrap="square" lIns="0" tIns="0" rIns="0" bIns="0" anchor="t">
            <a:spAutoFit/>
          </a:bodyPr>
          <a:lstStyle/>
          <a:p>
            <a:pPr algn="l"/>
            <a:r>
              <a:rPr sz="1500" b="1">
                <a:solidFill>
                  <a:srgbClr val="1E1E2C"/>
                </a:solidFill>
                <a:latin typeface="Arial"/>
              </a:rPr>
              <a:t>Cross out. </a:t>
            </a:r>
            <a:r>
              <a:rPr sz="1500" b="0">
                <a:solidFill>
                  <a:srgbClr val="1E1E2C"/>
                </a:solidFill>
                <a:latin typeface="Arial"/>
              </a:rPr>
              <a:t>Remove the row or column that is now full (supply used or demand met).</a:t>
            </a:r>
          </a:p>
        </p:txBody>
      </p:sp>
      <p:sp>
        <p:nvSpPr>
          <p:cNvPr id="37" name="Oval 36"/>
          <p:cNvSpPr/>
          <p:nvPr/>
        </p:nvSpPr>
        <p:spPr>
          <a:xfrm>
            <a:off x="548640" y="549402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6</a:t>
            </a:r>
          </a:p>
        </p:txBody>
      </p:sp>
      <p:sp>
        <p:nvSpPr>
          <p:cNvPr id="38" name="TextBox 37"/>
          <p:cNvSpPr txBox="1"/>
          <p:nvPr/>
        </p:nvSpPr>
        <p:spPr>
          <a:xfrm>
            <a:off x="1188720" y="5475732"/>
            <a:ext cx="5943600" cy="586740"/>
          </a:xfrm>
          <a:prstGeom prst="rect">
            <a:avLst/>
          </a:prstGeom>
          <a:noFill/>
        </p:spPr>
        <p:txBody>
          <a:bodyPr wrap="square" lIns="0" tIns="0" rIns="0" bIns="0" anchor="t">
            <a:spAutoFit/>
          </a:bodyPr>
          <a:lstStyle/>
          <a:p>
            <a:pPr algn="l"/>
            <a:r>
              <a:rPr sz="1500" b="1">
                <a:solidFill>
                  <a:srgbClr val="1E1E2C"/>
                </a:solidFill>
                <a:latin typeface="Arial"/>
              </a:rPr>
              <a:t>Repeat. </a:t>
            </a:r>
            <a:r>
              <a:rPr sz="1500" b="0">
                <a:solidFill>
                  <a:srgbClr val="1E1E2C"/>
                </a:solidFill>
                <a:latin typeface="Arial"/>
              </a:rPr>
              <a:t>Recalculate the penalties and continue until everyone is placed.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LEAST COST: STEP BY STEP</a:t>
            </a:r>
            <a:endParaRPr lang="en-US" sz="3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
        <p:nvSpPr>
          <p:cNvPr id="26" name="TextBox 25"/>
          <p:cNvSpPr txBox="1"/>
          <p:nvPr/>
        </p:nvSpPr>
        <p:spPr>
          <a:xfrm>
            <a:off x="548640" y="1783080"/>
            <a:ext cx="11091672" cy="365760"/>
          </a:xfrm>
          <a:prstGeom prst="rect">
            <a:avLst/>
          </a:prstGeom>
          <a:noFill/>
        </p:spPr>
        <p:txBody>
          <a:bodyPr wrap="square" lIns="0" tIns="0" rIns="0" bIns="0" anchor="t">
            <a:spAutoFit/>
          </a:bodyPr>
          <a:lstStyle/>
          <a:p>
            <a:pPr algn="l"/>
            <a:r>
              <a:rPr sz="1600" b="0">
                <a:solidFill>
                  <a:srgbClr val="5F5F6B"/>
                </a:solidFill>
                <a:latin typeface="Arial"/>
              </a:rPr>
              <a:t>The Least Cost Method is simpler: it always grabs the cheapest route first.</a:t>
            </a:r>
          </a:p>
        </p:txBody>
      </p:sp>
      <p:sp>
        <p:nvSpPr>
          <p:cNvPr id="27" name="Oval 26"/>
          <p:cNvSpPr/>
          <p:nvPr/>
        </p:nvSpPr>
        <p:spPr>
          <a:xfrm>
            <a:off x="548640" y="233172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1</a:t>
            </a:r>
          </a:p>
        </p:txBody>
      </p:sp>
      <p:sp>
        <p:nvSpPr>
          <p:cNvPr id="28" name="TextBox 27"/>
          <p:cNvSpPr txBox="1"/>
          <p:nvPr/>
        </p:nvSpPr>
        <p:spPr>
          <a:xfrm>
            <a:off x="1188720" y="2313432"/>
            <a:ext cx="5943600" cy="902970"/>
          </a:xfrm>
          <a:prstGeom prst="rect">
            <a:avLst/>
          </a:prstGeom>
          <a:noFill/>
        </p:spPr>
        <p:txBody>
          <a:bodyPr wrap="square" lIns="0" tIns="0" rIns="0" bIns="0" anchor="t">
            <a:spAutoFit/>
          </a:bodyPr>
          <a:lstStyle/>
          <a:p>
            <a:pPr algn="l"/>
            <a:r>
              <a:rPr sz="1500" b="1">
                <a:solidFill>
                  <a:srgbClr val="1E1E2C"/>
                </a:solidFill>
                <a:latin typeface="Arial"/>
              </a:rPr>
              <a:t>Find the cheapest. </a:t>
            </a:r>
            <a:r>
              <a:rPr sz="1500" b="0">
                <a:solidFill>
                  <a:srgbClr val="1E1E2C"/>
                </a:solidFill>
                <a:latin typeface="Arial"/>
              </a:rPr>
              <a:t>Look for the cheapest cell in the whole table.</a:t>
            </a:r>
          </a:p>
        </p:txBody>
      </p:sp>
      <p:sp>
        <p:nvSpPr>
          <p:cNvPr id="29" name="Oval 28"/>
          <p:cNvSpPr/>
          <p:nvPr/>
        </p:nvSpPr>
        <p:spPr>
          <a:xfrm>
            <a:off x="548640" y="328041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2</a:t>
            </a:r>
          </a:p>
        </p:txBody>
      </p:sp>
      <p:sp>
        <p:nvSpPr>
          <p:cNvPr id="30" name="TextBox 29"/>
          <p:cNvSpPr txBox="1"/>
          <p:nvPr/>
        </p:nvSpPr>
        <p:spPr>
          <a:xfrm>
            <a:off x="1188720" y="3262122"/>
            <a:ext cx="5943600" cy="902970"/>
          </a:xfrm>
          <a:prstGeom prst="rect">
            <a:avLst/>
          </a:prstGeom>
          <a:noFill/>
        </p:spPr>
        <p:txBody>
          <a:bodyPr wrap="square" lIns="0" tIns="0" rIns="0" bIns="0" anchor="t">
            <a:spAutoFit/>
          </a:bodyPr>
          <a:lstStyle/>
          <a:p>
            <a:pPr algn="l"/>
            <a:r>
              <a:rPr sz="1500" b="1">
                <a:solidFill>
                  <a:srgbClr val="1E1E2C"/>
                </a:solidFill>
                <a:latin typeface="Arial"/>
              </a:rPr>
              <a:t>Fill it. </a:t>
            </a:r>
            <a:r>
              <a:rPr sz="1500" b="0">
                <a:solidFill>
                  <a:srgbClr val="1E1E2C"/>
                </a:solidFill>
                <a:latin typeface="Arial"/>
              </a:rPr>
              <a:t>Send as many engineers as possible: the smaller of what the company has and what the site needs.</a:t>
            </a:r>
          </a:p>
        </p:txBody>
      </p:sp>
      <p:sp>
        <p:nvSpPr>
          <p:cNvPr id="31" name="Oval 30"/>
          <p:cNvSpPr/>
          <p:nvPr/>
        </p:nvSpPr>
        <p:spPr>
          <a:xfrm>
            <a:off x="548640" y="422910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3</a:t>
            </a:r>
          </a:p>
        </p:txBody>
      </p:sp>
      <p:sp>
        <p:nvSpPr>
          <p:cNvPr id="32" name="TextBox 31"/>
          <p:cNvSpPr txBox="1"/>
          <p:nvPr/>
        </p:nvSpPr>
        <p:spPr>
          <a:xfrm>
            <a:off x="1188720" y="4210812"/>
            <a:ext cx="5943600" cy="902970"/>
          </a:xfrm>
          <a:prstGeom prst="rect">
            <a:avLst/>
          </a:prstGeom>
          <a:noFill/>
        </p:spPr>
        <p:txBody>
          <a:bodyPr wrap="square" lIns="0" tIns="0" rIns="0" bIns="0" anchor="t">
            <a:spAutoFit/>
          </a:bodyPr>
          <a:lstStyle/>
          <a:p>
            <a:pPr algn="l"/>
            <a:r>
              <a:rPr sz="1500" b="1">
                <a:solidFill>
                  <a:srgbClr val="1E1E2C"/>
                </a:solidFill>
                <a:latin typeface="Arial"/>
              </a:rPr>
              <a:t>Cross out. </a:t>
            </a:r>
            <a:r>
              <a:rPr sz="1500" b="0">
                <a:solidFill>
                  <a:srgbClr val="1E1E2C"/>
                </a:solidFill>
                <a:latin typeface="Arial"/>
              </a:rPr>
              <a:t>Remove the row or column that is now full.</a:t>
            </a:r>
          </a:p>
        </p:txBody>
      </p:sp>
      <p:sp>
        <p:nvSpPr>
          <p:cNvPr id="33" name="Oval 32"/>
          <p:cNvSpPr/>
          <p:nvPr/>
        </p:nvSpPr>
        <p:spPr>
          <a:xfrm>
            <a:off x="548640" y="517779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4</a:t>
            </a:r>
          </a:p>
        </p:txBody>
      </p:sp>
      <p:sp>
        <p:nvSpPr>
          <p:cNvPr id="34" name="TextBox 33"/>
          <p:cNvSpPr txBox="1"/>
          <p:nvPr/>
        </p:nvSpPr>
        <p:spPr>
          <a:xfrm>
            <a:off x="1188720" y="5159502"/>
            <a:ext cx="5943600" cy="902970"/>
          </a:xfrm>
          <a:prstGeom prst="rect">
            <a:avLst/>
          </a:prstGeom>
          <a:noFill/>
        </p:spPr>
        <p:txBody>
          <a:bodyPr wrap="square" lIns="0" tIns="0" rIns="0" bIns="0" anchor="t">
            <a:spAutoFit/>
          </a:bodyPr>
          <a:lstStyle/>
          <a:p>
            <a:pPr algn="l"/>
            <a:r>
              <a:rPr sz="1500" b="1">
                <a:solidFill>
                  <a:srgbClr val="1E1E2C"/>
                </a:solidFill>
                <a:latin typeface="Arial"/>
              </a:rPr>
              <a:t>Repeat. </a:t>
            </a:r>
            <a:r>
              <a:rPr sz="1500" b="0">
                <a:solidFill>
                  <a:srgbClr val="1E1E2C"/>
                </a:solidFill>
                <a:latin typeface="Arial"/>
              </a:rPr>
              <a:t>Take the next cheapest cell until all supply and demand are used.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MODI: STEP BY STEP</a:t>
            </a:r>
            <a:endParaRPr lang="en-US" sz="3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
        <p:nvSpPr>
          <p:cNvPr id="26" name="TextBox 25"/>
          <p:cNvSpPr txBox="1"/>
          <p:nvPr/>
        </p:nvSpPr>
        <p:spPr>
          <a:xfrm>
            <a:off x="548640" y="1783080"/>
            <a:ext cx="11091672" cy="365760"/>
          </a:xfrm>
          <a:prstGeom prst="rect">
            <a:avLst/>
          </a:prstGeom>
          <a:noFill/>
        </p:spPr>
        <p:txBody>
          <a:bodyPr wrap="square" lIns="0" tIns="0" rIns="0" bIns="0" anchor="t">
            <a:spAutoFit/>
          </a:bodyPr>
          <a:lstStyle/>
          <a:p>
            <a:pPr algn="l"/>
            <a:r>
              <a:rPr sz="1600" b="0">
                <a:solidFill>
                  <a:srgbClr val="5F5F6B"/>
                </a:solidFill>
                <a:latin typeface="Arial"/>
              </a:rPr>
              <a:t>MODI checks a starting plan and improves it until no unused route can lower the cost.</a:t>
            </a:r>
          </a:p>
        </p:txBody>
      </p:sp>
      <p:sp>
        <p:nvSpPr>
          <p:cNvPr id="27" name="Oval 26"/>
          <p:cNvSpPr/>
          <p:nvPr/>
        </p:nvSpPr>
        <p:spPr>
          <a:xfrm>
            <a:off x="548640" y="233172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1</a:t>
            </a:r>
          </a:p>
        </p:txBody>
      </p:sp>
      <p:sp>
        <p:nvSpPr>
          <p:cNvPr id="28" name="TextBox 27"/>
          <p:cNvSpPr txBox="1"/>
          <p:nvPr/>
        </p:nvSpPr>
        <p:spPr>
          <a:xfrm>
            <a:off x="1188720" y="2313432"/>
            <a:ext cx="5943600" cy="586740"/>
          </a:xfrm>
          <a:prstGeom prst="rect">
            <a:avLst/>
          </a:prstGeom>
          <a:noFill/>
        </p:spPr>
        <p:txBody>
          <a:bodyPr wrap="square" lIns="0" tIns="0" rIns="0" bIns="0" anchor="t">
            <a:spAutoFit/>
          </a:bodyPr>
          <a:lstStyle/>
          <a:p>
            <a:pPr algn="l"/>
            <a:r>
              <a:rPr sz="1500" b="1">
                <a:solidFill>
                  <a:srgbClr val="1E1E2C"/>
                </a:solidFill>
                <a:latin typeface="Arial"/>
              </a:rPr>
              <a:t>Start. </a:t>
            </a:r>
            <a:r>
              <a:rPr sz="1500" b="0">
                <a:solidFill>
                  <a:srgbClr val="1E1E2C"/>
                </a:solidFill>
                <a:latin typeface="Arial"/>
              </a:rPr>
              <a:t>Take the starting plan (we use the VAM plan).</a:t>
            </a:r>
          </a:p>
        </p:txBody>
      </p:sp>
      <p:sp>
        <p:nvSpPr>
          <p:cNvPr id="29" name="Oval 28"/>
          <p:cNvSpPr/>
          <p:nvPr/>
        </p:nvSpPr>
        <p:spPr>
          <a:xfrm>
            <a:off x="548640" y="296418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2</a:t>
            </a:r>
          </a:p>
        </p:txBody>
      </p:sp>
      <p:sp>
        <p:nvSpPr>
          <p:cNvPr id="30" name="TextBox 29"/>
          <p:cNvSpPr txBox="1"/>
          <p:nvPr/>
        </p:nvSpPr>
        <p:spPr>
          <a:xfrm>
            <a:off x="1188720" y="2945892"/>
            <a:ext cx="5943600" cy="586740"/>
          </a:xfrm>
          <a:prstGeom prst="rect">
            <a:avLst/>
          </a:prstGeom>
          <a:noFill/>
        </p:spPr>
        <p:txBody>
          <a:bodyPr wrap="square" lIns="0" tIns="0" rIns="0" bIns="0" anchor="t">
            <a:spAutoFit/>
          </a:bodyPr>
          <a:lstStyle/>
          <a:p>
            <a:pPr algn="l"/>
            <a:r>
              <a:rPr sz="1500" b="1">
                <a:solidFill>
                  <a:srgbClr val="1E1E2C"/>
                </a:solidFill>
                <a:latin typeface="Arial"/>
              </a:rPr>
              <a:t>Score. </a:t>
            </a:r>
            <a:r>
              <a:rPr sz="1500" b="0">
                <a:solidFill>
                  <a:srgbClr val="1E1E2C"/>
                </a:solidFill>
                <a:latin typeface="Arial"/>
              </a:rPr>
              <a:t>Give each company and site a score (u, v) so that u + v = cost on every used route.</a:t>
            </a:r>
          </a:p>
        </p:txBody>
      </p:sp>
      <p:sp>
        <p:nvSpPr>
          <p:cNvPr id="31" name="Oval 30"/>
          <p:cNvSpPr/>
          <p:nvPr/>
        </p:nvSpPr>
        <p:spPr>
          <a:xfrm>
            <a:off x="548640" y="359664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3</a:t>
            </a:r>
          </a:p>
        </p:txBody>
      </p:sp>
      <p:sp>
        <p:nvSpPr>
          <p:cNvPr id="32" name="TextBox 31"/>
          <p:cNvSpPr txBox="1"/>
          <p:nvPr/>
        </p:nvSpPr>
        <p:spPr>
          <a:xfrm>
            <a:off x="1188720" y="3578352"/>
            <a:ext cx="5943600" cy="586740"/>
          </a:xfrm>
          <a:prstGeom prst="rect">
            <a:avLst/>
          </a:prstGeom>
          <a:noFill/>
        </p:spPr>
        <p:txBody>
          <a:bodyPr wrap="square" lIns="0" tIns="0" rIns="0" bIns="0" anchor="t">
            <a:spAutoFit/>
          </a:bodyPr>
          <a:lstStyle/>
          <a:p>
            <a:pPr algn="l"/>
            <a:r>
              <a:rPr sz="1500" b="1">
                <a:solidFill>
                  <a:srgbClr val="1E1E2C"/>
                </a:solidFill>
                <a:latin typeface="Arial"/>
              </a:rPr>
              <a:t>Test unused routes. </a:t>
            </a:r>
            <a:r>
              <a:rPr sz="1500" b="0">
                <a:solidFill>
                  <a:srgbClr val="1E1E2C"/>
                </a:solidFill>
                <a:latin typeface="Arial"/>
              </a:rPr>
              <a:t>Δ = cost − (u + v): the cost change per engineer if we start using that route.</a:t>
            </a:r>
          </a:p>
        </p:txBody>
      </p:sp>
      <p:sp>
        <p:nvSpPr>
          <p:cNvPr id="33" name="Oval 32"/>
          <p:cNvSpPr/>
          <p:nvPr/>
        </p:nvSpPr>
        <p:spPr>
          <a:xfrm>
            <a:off x="548640" y="422910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4</a:t>
            </a:r>
          </a:p>
        </p:txBody>
      </p:sp>
      <p:sp>
        <p:nvSpPr>
          <p:cNvPr id="34" name="TextBox 33"/>
          <p:cNvSpPr txBox="1"/>
          <p:nvPr/>
        </p:nvSpPr>
        <p:spPr>
          <a:xfrm>
            <a:off x="1188720" y="4210812"/>
            <a:ext cx="5943600" cy="586740"/>
          </a:xfrm>
          <a:prstGeom prst="rect">
            <a:avLst/>
          </a:prstGeom>
          <a:noFill/>
        </p:spPr>
        <p:txBody>
          <a:bodyPr wrap="square" lIns="0" tIns="0" rIns="0" bIns="0" anchor="t">
            <a:spAutoFit/>
          </a:bodyPr>
          <a:lstStyle/>
          <a:p>
            <a:pPr algn="l"/>
            <a:r>
              <a:rPr sz="1500" b="1">
                <a:solidFill>
                  <a:srgbClr val="1E1E2C"/>
                </a:solidFill>
                <a:latin typeface="Arial"/>
              </a:rPr>
              <a:t>Stop? </a:t>
            </a:r>
            <a:r>
              <a:rPr sz="1500" b="0">
                <a:solidFill>
                  <a:srgbClr val="1E1E2C"/>
                </a:solidFill>
                <a:latin typeface="Arial"/>
              </a:rPr>
              <a:t>If every Δ ≥ 0, the plan is optimal.</a:t>
            </a:r>
          </a:p>
        </p:txBody>
      </p:sp>
      <p:sp>
        <p:nvSpPr>
          <p:cNvPr id="35" name="Oval 34"/>
          <p:cNvSpPr/>
          <p:nvPr/>
        </p:nvSpPr>
        <p:spPr>
          <a:xfrm>
            <a:off x="548640" y="486156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5</a:t>
            </a:r>
          </a:p>
        </p:txBody>
      </p:sp>
      <p:sp>
        <p:nvSpPr>
          <p:cNvPr id="36" name="TextBox 35"/>
          <p:cNvSpPr txBox="1"/>
          <p:nvPr/>
        </p:nvSpPr>
        <p:spPr>
          <a:xfrm>
            <a:off x="1188720" y="4843272"/>
            <a:ext cx="5943600" cy="586740"/>
          </a:xfrm>
          <a:prstGeom prst="rect">
            <a:avLst/>
          </a:prstGeom>
          <a:noFill/>
        </p:spPr>
        <p:txBody>
          <a:bodyPr wrap="square" lIns="0" tIns="0" rIns="0" bIns="0" anchor="t">
            <a:spAutoFit/>
          </a:bodyPr>
          <a:lstStyle/>
          <a:p>
            <a:pPr algn="l"/>
            <a:r>
              <a:rPr sz="1500" b="1">
                <a:solidFill>
                  <a:srgbClr val="1E1E2C"/>
                </a:solidFill>
                <a:latin typeface="Arial"/>
              </a:rPr>
              <a:t>Loop. </a:t>
            </a:r>
            <a:r>
              <a:rPr sz="1500" b="0">
                <a:solidFill>
                  <a:srgbClr val="1E1E2C"/>
                </a:solidFill>
                <a:latin typeface="Arial"/>
              </a:rPr>
              <a:t>Otherwise pick the most negative Δ and draw a closed loop through used routes (+ − + −).</a:t>
            </a:r>
          </a:p>
        </p:txBody>
      </p:sp>
      <p:sp>
        <p:nvSpPr>
          <p:cNvPr id="37" name="Oval 36"/>
          <p:cNvSpPr/>
          <p:nvPr/>
        </p:nvSpPr>
        <p:spPr>
          <a:xfrm>
            <a:off x="548640" y="5494020"/>
            <a:ext cx="457200" cy="457200"/>
          </a:xfrm>
          <a:prstGeom prst="ellipse">
            <a:avLst/>
          </a:prstGeom>
          <a:solidFill>
            <a:srgbClr val="1D5FD1"/>
          </a:solidFill>
          <a:ln>
            <a:solidFill>
              <a:srgbClr val="1D5FD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6</a:t>
            </a:r>
          </a:p>
        </p:txBody>
      </p:sp>
      <p:sp>
        <p:nvSpPr>
          <p:cNvPr id="38" name="TextBox 37"/>
          <p:cNvSpPr txBox="1"/>
          <p:nvPr/>
        </p:nvSpPr>
        <p:spPr>
          <a:xfrm>
            <a:off x="1188720" y="5475732"/>
            <a:ext cx="5943600" cy="586740"/>
          </a:xfrm>
          <a:prstGeom prst="rect">
            <a:avLst/>
          </a:prstGeom>
          <a:noFill/>
        </p:spPr>
        <p:txBody>
          <a:bodyPr wrap="square" lIns="0" tIns="0" rIns="0" bIns="0" anchor="t">
            <a:spAutoFit/>
          </a:bodyPr>
          <a:lstStyle/>
          <a:p>
            <a:pPr algn="l"/>
            <a:r>
              <a:rPr sz="1500" b="1">
                <a:solidFill>
                  <a:srgbClr val="1E1E2C"/>
                </a:solidFill>
                <a:latin typeface="Arial"/>
              </a:rPr>
              <a:t>Shift. </a:t>
            </a:r>
            <a:r>
              <a:rPr sz="1500" b="0">
                <a:solidFill>
                  <a:srgbClr val="1E1E2C"/>
                </a:solidFill>
                <a:latin typeface="Arial"/>
              </a:rPr>
              <a:t>Move the smallest '−' amount around the loop, update the plan, go back to step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F9CB4-FE32-BDD7-551F-7C525F00FEF4}"/>
              </a:ext>
            </a:extLst>
          </p:cNvPr>
          <p:cNvSpPr>
            <a:spLocks noGrp="1"/>
          </p:cNvSpPr>
          <p:nvPr>
            <p:ph type="title" idx="104"/>
          </p:nvPr>
        </p:nvSpPr>
        <p:spPr/>
        <p:txBody>
          <a:bodyPr/>
          <a:lstStyle/>
          <a:p>
            <a:r>
              <a:rPr lang="en-US"/>
              <a:t>Transportation Problem Simulation</a:t>
            </a:r>
            <a:endParaRPr lang="en-US" dirty="0"/>
          </a:p>
        </p:txBody>
      </p:sp>
      <p:sp>
        <p:nvSpPr>
          <p:cNvPr id="4" name="TextBox 3">
            <a:extLst>
              <a:ext uri="{FF2B5EF4-FFF2-40B4-BE49-F238E27FC236}">
                <a16:creationId xmlns:a16="http://schemas.microsoft.com/office/drawing/2014/main" id="{E402E163-90F3-A1E2-CF0C-BCAB28CB5378}"/>
              </a:ext>
            </a:extLst>
          </p:cNvPr>
          <p:cNvSpPr txBox="1"/>
          <p:nvPr/>
        </p:nvSpPr>
        <p:spPr>
          <a:xfrm>
            <a:off x="914400" y="2015412"/>
            <a:ext cx="6130909" cy="1200329"/>
          </a:xfrm>
          <a:prstGeom prst="rect">
            <a:avLst/>
          </a:prstGeom>
          <a:noFill/>
        </p:spPr>
        <p:txBody>
          <a:bodyPr wrap="none" rtlCol="0">
            <a:spAutoFit/>
          </a:bodyPr>
          <a:lstStyle/>
          <a:p>
            <a:r>
              <a:rPr lang="en-US" dirty="0"/>
              <a:t> - To Interactive visualization of the transportation process.</a:t>
            </a:r>
          </a:p>
          <a:p>
            <a:endParaRPr lang="en-US" b="1" dirty="0"/>
          </a:p>
          <a:p>
            <a:r>
              <a:rPr lang="en-US" dirty="0"/>
              <a:t> - Technologies Used: Python, </a:t>
            </a:r>
            <a:r>
              <a:rPr lang="en-US" dirty="0" err="1"/>
              <a:t>Tkinter</a:t>
            </a:r>
            <a:r>
              <a:rPr lang="en-US" dirty="0"/>
              <a:t>, NumPy, Matplotlib.</a:t>
            </a:r>
          </a:p>
          <a:p>
            <a:endParaRPr lang="en-US" dirty="0"/>
          </a:p>
        </p:txBody>
      </p:sp>
    </p:spTree>
    <p:extLst>
      <p:ext uri="{BB962C8B-B14F-4D97-AF65-F5344CB8AC3E}">
        <p14:creationId xmlns:p14="http://schemas.microsoft.com/office/powerpoint/2010/main" val="643450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title" idx="104" hasCustomPrompt="1"/>
          </p:nvPr>
        </p:nvSpPr>
        <p:spPr>
          <a:xfrm>
            <a:off x="548640" y="960120"/>
            <a:ext cx="11091672" cy="685800"/>
          </a:xfrm>
          <a:prstGeom prst="rect">
            <a:avLst/>
          </a:prstGeom>
          <a:noFill/>
          <a:ln/>
        </p:spPr>
        <p:txBody>
          <a:bodyPr wrap="square" lIns="0" tIns="0" rIns="0" bIns="0" rtlCol="0" anchor="ctr"/>
          <a:lstStyle/>
          <a:p>
            <a:pPr marL="0" indent="0" algn="l">
              <a:buNone/>
            </a:pPr>
            <a:r>
              <a:rPr lang="en-US" sz="3600" b="1" dirty="0">
                <a:solidFill>
                  <a:schemeClr val="accent1"/>
                </a:solidFill>
                <a:latin typeface="Arial" pitchFamily="34" charset="0"/>
                <a:ea typeface="Arial" pitchFamily="34" charset="-122"/>
                <a:cs typeface="Arial" pitchFamily="34" charset="-120"/>
              </a:rPr>
              <a:t>DISCUSSION &amp; CONCLUSION</a:t>
            </a:r>
            <a:endParaRPr lang="en-US" sz="3600" dirty="0"/>
          </a:p>
        </p:txBody>
      </p:sp>
      <p:sp>
        <p:nvSpPr>
          <p:cNvPr id="3" name="MODI improved every scenario circle"/>
          <p:cNvSpPr/>
          <p:nvPr/>
        </p:nvSpPr>
        <p:spPr>
          <a:xfrm>
            <a:off x="548640" y="196596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4" name="Image 0" descr="MODI improved every scenario"/>
          <p:cNvPicPr>
            <a:picLocks noChangeAspect="1"/>
          </p:cNvPicPr>
          <p:nvPr/>
        </p:nvPicPr>
        <p:blipFill>
          <a:blip r:embed="rId3"/>
          <a:stretch>
            <a:fillRect/>
          </a:stretch>
        </p:blipFill>
        <p:spPr>
          <a:xfrm>
            <a:off x="721462" y="2138782"/>
            <a:ext cx="294437" cy="294437"/>
          </a:xfrm>
          <a:prstGeom prst="rect">
            <a:avLst/>
          </a:prstGeom>
        </p:spPr>
      </p:pic>
      <p:sp>
        <p:nvSpPr>
          <p:cNvPr id="5" name="Text 2"/>
          <p:cNvSpPr txBox="1"/>
          <p:nvPr/>
        </p:nvSpPr>
        <p:spPr>
          <a:xfrm>
            <a:off x="1417320" y="1920240"/>
            <a:ext cx="4937760" cy="41148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MODI improved every scenario</a:t>
            </a:r>
            <a:endParaRPr lang="en-US" sz="2000" dirty="0"/>
          </a:p>
        </p:txBody>
      </p:sp>
      <p:sp>
        <p:nvSpPr>
          <p:cNvPr id="6" name="Text 3"/>
          <p:cNvSpPr txBox="1"/>
          <p:nvPr/>
        </p:nvSpPr>
        <p:spPr>
          <a:xfrm>
            <a:off x="1417320" y="2377440"/>
            <a:ext cx="4937760" cy="64008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Costs fell from 1,310 to 1,060, 835 to 780, and 1,150 to 1,100 EGP.</a:t>
            </a:r>
            <a:endParaRPr lang="en-US" sz="1500" dirty="0"/>
          </a:p>
        </p:txBody>
      </p:sp>
      <p:sp>
        <p:nvSpPr>
          <p:cNvPr id="7" name="Optimal costs confirmed circle"/>
          <p:cNvSpPr/>
          <p:nvPr/>
        </p:nvSpPr>
        <p:spPr>
          <a:xfrm>
            <a:off x="548640" y="338328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8" name="Image 1" descr="Optimal costs confirmed"/>
          <p:cNvPicPr>
            <a:picLocks noChangeAspect="1"/>
          </p:cNvPicPr>
          <p:nvPr/>
        </p:nvPicPr>
        <p:blipFill>
          <a:blip r:embed="rId3"/>
          <a:stretch>
            <a:fillRect/>
          </a:stretch>
        </p:blipFill>
        <p:spPr>
          <a:xfrm>
            <a:off x="721462" y="3556102"/>
            <a:ext cx="294437" cy="294437"/>
          </a:xfrm>
          <a:prstGeom prst="rect">
            <a:avLst/>
          </a:prstGeom>
        </p:spPr>
      </p:pic>
      <p:sp>
        <p:nvSpPr>
          <p:cNvPr id="9" name="Text 5"/>
          <p:cNvSpPr txBox="1"/>
          <p:nvPr/>
        </p:nvSpPr>
        <p:spPr>
          <a:xfrm>
            <a:off x="1417320" y="3337560"/>
            <a:ext cx="4937760" cy="41148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Optimal costs confirmed</a:t>
            </a:r>
            <a:endParaRPr lang="en-US" sz="2000" dirty="0"/>
          </a:p>
        </p:txBody>
      </p:sp>
      <p:sp>
        <p:nvSpPr>
          <p:cNvPr id="10" name="Text 6"/>
          <p:cNvSpPr txBox="1"/>
          <p:nvPr/>
        </p:nvSpPr>
        <p:spPr>
          <a:xfrm>
            <a:off x="1417320" y="3794760"/>
            <a:ext cx="4937760" cy="64008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1,060 · 780 · 1,100 EGP, with every reduced cost Δ ≥ 0.</a:t>
            </a:r>
            <a:endParaRPr lang="en-US" sz="1500" dirty="0"/>
          </a:p>
        </p:txBody>
      </p:sp>
      <p:sp>
        <p:nvSpPr>
          <p:cNvPr id="11" name="Shortage and surplus handled circle"/>
          <p:cNvSpPr/>
          <p:nvPr/>
        </p:nvSpPr>
        <p:spPr>
          <a:xfrm>
            <a:off x="548640" y="480060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2" name="Image 2" descr="Shortage and surplus handled"/>
          <p:cNvPicPr>
            <a:picLocks noChangeAspect="1"/>
          </p:cNvPicPr>
          <p:nvPr/>
        </p:nvPicPr>
        <p:blipFill>
          <a:blip r:embed="rId3"/>
          <a:stretch>
            <a:fillRect/>
          </a:stretch>
        </p:blipFill>
        <p:spPr>
          <a:xfrm>
            <a:off x="721462" y="4973422"/>
            <a:ext cx="294437" cy="294437"/>
          </a:xfrm>
          <a:prstGeom prst="rect">
            <a:avLst/>
          </a:prstGeom>
        </p:spPr>
      </p:pic>
      <p:sp>
        <p:nvSpPr>
          <p:cNvPr id="13" name="Text 8"/>
          <p:cNvSpPr txBox="1"/>
          <p:nvPr/>
        </p:nvSpPr>
        <p:spPr>
          <a:xfrm>
            <a:off x="1417320" y="4754880"/>
            <a:ext cx="4937760" cy="41148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Shortage and surplus handled</a:t>
            </a:r>
            <a:endParaRPr lang="en-US" sz="2000" dirty="0"/>
          </a:p>
        </p:txBody>
      </p:sp>
      <p:sp>
        <p:nvSpPr>
          <p:cNvPr id="14" name="Text 9"/>
          <p:cNvSpPr txBox="1"/>
          <p:nvPr/>
        </p:nvSpPr>
        <p:spPr>
          <a:xfrm>
            <a:off x="1417320" y="5212080"/>
            <a:ext cx="4937760" cy="640080"/>
          </a:xfrm>
          <a:prstGeom prst="rect">
            <a:avLst/>
          </a:prstGeom>
          <a:noFill/>
          <a:ln/>
        </p:spPr>
        <p:txBody>
          <a:bodyPr wrap="square" lIns="0" tIns="0" rIns="0" bIns="0" rtlCol="0" anchor="t"/>
          <a:lstStyle/>
          <a:p>
            <a:pPr marL="0" indent="0">
              <a:buNone/>
            </a:pPr>
            <a:r>
              <a:rPr lang="en-US" sz="1500" dirty="0">
                <a:solidFill>
                  <a:schemeClr val="tx2"/>
                </a:solidFill>
                <a:latin typeface="Arial" pitchFamily="34" charset="0"/>
                <a:ea typeface="Arial" pitchFamily="34" charset="-122"/>
                <a:cs typeface="Arial" pitchFamily="34" charset="-120"/>
              </a:rPr>
              <a:t>Dummy nodes keep unbalanced alert loads solvable.</a:t>
            </a:r>
            <a:endParaRPr lang="en-US" sz="1500" dirty="0"/>
          </a:p>
        </p:txBody>
      </p:sp>
      <p:sp>
        <p:nvSpPr>
          <p:cNvPr id="15" name="Benefit card 1"/>
          <p:cNvSpPr/>
          <p:nvPr/>
        </p:nvSpPr>
        <p:spPr>
          <a:xfrm>
            <a:off x="6766560" y="1874520"/>
            <a:ext cx="2359152" cy="1920240"/>
          </a:xfrm>
          <a:prstGeom prst="roundRect">
            <a:avLst>
              <a:gd name="adj" fmla="val 5714"/>
            </a:avLst>
          </a:prstGeom>
          <a:solidFill>
            <a:schemeClr val="accent3"/>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16" name="Lower cost circle"/>
          <p:cNvSpPr/>
          <p:nvPr/>
        </p:nvSpPr>
        <p:spPr>
          <a:xfrm>
            <a:off x="6949440" y="20574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7" name="Image 3" descr="Lower cost"/>
          <p:cNvPicPr>
            <a:picLocks noChangeAspect="1"/>
          </p:cNvPicPr>
          <p:nvPr/>
        </p:nvPicPr>
        <p:blipFill>
          <a:blip r:embed="rId4"/>
          <a:stretch>
            <a:fillRect/>
          </a:stretch>
        </p:blipFill>
        <p:spPr>
          <a:xfrm>
            <a:off x="7097573" y="2205533"/>
            <a:ext cx="252374" cy="252374"/>
          </a:xfrm>
          <a:prstGeom prst="rect">
            <a:avLst/>
          </a:prstGeom>
        </p:spPr>
      </p:pic>
      <p:sp>
        <p:nvSpPr>
          <p:cNvPr id="18" name="Text 12"/>
          <p:cNvSpPr txBox="1"/>
          <p:nvPr/>
        </p:nvSpPr>
        <p:spPr>
          <a:xfrm>
            <a:off x="6949440" y="2743200"/>
            <a:ext cx="2011680" cy="32004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Lower cost</a:t>
            </a:r>
            <a:endParaRPr lang="en-US" sz="1600" dirty="0"/>
          </a:p>
        </p:txBody>
      </p:sp>
      <p:sp>
        <p:nvSpPr>
          <p:cNvPr id="19" name="Text 13"/>
          <p:cNvSpPr txBox="1"/>
          <p:nvPr/>
        </p:nvSpPr>
        <p:spPr>
          <a:xfrm>
            <a:off x="6949440" y="3081528"/>
            <a:ext cx="2011680" cy="64008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Spend less and respond faster to critical sites.</a:t>
            </a:r>
            <a:endParaRPr lang="en-US" sz="1100" dirty="0"/>
          </a:p>
        </p:txBody>
      </p:sp>
      <p:sp>
        <p:nvSpPr>
          <p:cNvPr id="20" name="Benefit card 2"/>
          <p:cNvSpPr/>
          <p:nvPr/>
        </p:nvSpPr>
        <p:spPr>
          <a:xfrm>
            <a:off x="9281160" y="1874520"/>
            <a:ext cx="2359152" cy="1920240"/>
          </a:xfrm>
          <a:prstGeom prst="roundRect">
            <a:avLst>
              <a:gd name="adj" fmla="val 5714"/>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21" name="Better balance circle"/>
          <p:cNvSpPr/>
          <p:nvPr/>
        </p:nvSpPr>
        <p:spPr>
          <a:xfrm>
            <a:off x="9464040" y="205740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2" name="Image 4" descr="Better balance"/>
          <p:cNvPicPr>
            <a:picLocks noChangeAspect="1"/>
          </p:cNvPicPr>
          <p:nvPr/>
        </p:nvPicPr>
        <p:blipFill>
          <a:blip r:embed="rId5"/>
          <a:stretch>
            <a:fillRect/>
          </a:stretch>
        </p:blipFill>
        <p:spPr>
          <a:xfrm>
            <a:off x="9612173" y="2205533"/>
            <a:ext cx="252374" cy="252374"/>
          </a:xfrm>
          <a:prstGeom prst="rect">
            <a:avLst/>
          </a:prstGeom>
        </p:spPr>
      </p:pic>
      <p:sp>
        <p:nvSpPr>
          <p:cNvPr id="23" name="Text 16"/>
          <p:cNvSpPr txBox="1"/>
          <p:nvPr/>
        </p:nvSpPr>
        <p:spPr>
          <a:xfrm>
            <a:off x="9464040" y="2743200"/>
            <a:ext cx="2011680" cy="32004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Better balance</a:t>
            </a:r>
            <a:endParaRPr lang="en-US" sz="1600" dirty="0"/>
          </a:p>
        </p:txBody>
      </p:sp>
      <p:sp>
        <p:nvSpPr>
          <p:cNvPr id="24" name="Text 17"/>
          <p:cNvSpPr txBox="1"/>
          <p:nvPr/>
        </p:nvSpPr>
        <p:spPr>
          <a:xfrm>
            <a:off x="9464040" y="3081528"/>
            <a:ext cx="2011680" cy="64008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No overloaded or idle SOC teams.</a:t>
            </a:r>
            <a:endParaRPr lang="en-US" sz="1100" dirty="0"/>
          </a:p>
        </p:txBody>
      </p:sp>
      <p:sp>
        <p:nvSpPr>
          <p:cNvPr id="25" name="Benefit card 3"/>
          <p:cNvSpPr/>
          <p:nvPr/>
        </p:nvSpPr>
        <p:spPr>
          <a:xfrm>
            <a:off x="6766560" y="3977640"/>
            <a:ext cx="2359152" cy="1920240"/>
          </a:xfrm>
          <a:prstGeom prst="roundRect">
            <a:avLst>
              <a:gd name="adj" fmla="val 5714"/>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26" name="Data-driven circle"/>
          <p:cNvSpPr/>
          <p:nvPr/>
        </p:nvSpPr>
        <p:spPr>
          <a:xfrm>
            <a:off x="6949440" y="41605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7" name="Image 5" descr="Data-driven"/>
          <p:cNvPicPr>
            <a:picLocks noChangeAspect="1"/>
          </p:cNvPicPr>
          <p:nvPr/>
        </p:nvPicPr>
        <p:blipFill>
          <a:blip r:embed="rId6"/>
          <a:stretch>
            <a:fillRect/>
          </a:stretch>
        </p:blipFill>
        <p:spPr>
          <a:xfrm>
            <a:off x="7097573" y="4308653"/>
            <a:ext cx="252374" cy="252374"/>
          </a:xfrm>
          <a:prstGeom prst="rect">
            <a:avLst/>
          </a:prstGeom>
        </p:spPr>
      </p:pic>
      <p:sp>
        <p:nvSpPr>
          <p:cNvPr id="28" name="Text 20"/>
          <p:cNvSpPr txBox="1"/>
          <p:nvPr/>
        </p:nvSpPr>
        <p:spPr>
          <a:xfrm>
            <a:off x="6949440" y="4846320"/>
            <a:ext cx="2011680" cy="32004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Data-driven</a:t>
            </a:r>
            <a:endParaRPr lang="en-US" sz="1600" dirty="0"/>
          </a:p>
        </p:txBody>
      </p:sp>
      <p:sp>
        <p:nvSpPr>
          <p:cNvPr id="29" name="Text 21"/>
          <p:cNvSpPr txBox="1"/>
          <p:nvPr/>
        </p:nvSpPr>
        <p:spPr>
          <a:xfrm>
            <a:off x="6949440" y="5184648"/>
            <a:ext cx="2011680" cy="64008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A clear decision rule for SOC and DFIR leads.</a:t>
            </a:r>
            <a:endParaRPr lang="en-US" sz="1100" dirty="0"/>
          </a:p>
        </p:txBody>
      </p:sp>
      <p:sp>
        <p:nvSpPr>
          <p:cNvPr id="30" name="Benefit card 4"/>
          <p:cNvSpPr/>
          <p:nvPr/>
        </p:nvSpPr>
        <p:spPr>
          <a:xfrm>
            <a:off x="9281160" y="3977640"/>
            <a:ext cx="2359152" cy="1920240"/>
          </a:xfrm>
          <a:prstGeom prst="roundRect">
            <a:avLst>
              <a:gd name="adj" fmla="val 5714"/>
            </a:avLst>
          </a:prstGeom>
          <a:solidFill>
            <a:schemeClr val="bg1"/>
          </a:solidFill>
          <a:ln w="9525">
            <a:solidFill>
              <a:srgbClr val="C9D9F2"/>
            </a:solidFill>
            <a:prstDash val="solid"/>
          </a:ln>
          <a:effectLst>
            <a:outerShdw blurRad="101600" dist="25400" dir="5400000" algn="bl" rotWithShape="0">
              <a:srgbClr val="000000">
                <a:alpha val="10000"/>
              </a:srgbClr>
            </a:outerShdw>
          </a:effectLst>
        </p:spPr>
        <p:txBody>
          <a:bodyPr/>
          <a:lstStyle/>
          <a:p>
            <a:endParaRPr lang="en-US"/>
          </a:p>
        </p:txBody>
      </p:sp>
      <p:sp>
        <p:nvSpPr>
          <p:cNvPr id="31" name="Scales up circle"/>
          <p:cNvSpPr/>
          <p:nvPr/>
        </p:nvSpPr>
        <p:spPr>
          <a:xfrm>
            <a:off x="9464040" y="41605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32" name="Image 6" descr="Scales up"/>
          <p:cNvPicPr>
            <a:picLocks noChangeAspect="1"/>
          </p:cNvPicPr>
          <p:nvPr/>
        </p:nvPicPr>
        <p:blipFill>
          <a:blip r:embed="rId7"/>
          <a:stretch>
            <a:fillRect/>
          </a:stretch>
        </p:blipFill>
        <p:spPr>
          <a:xfrm>
            <a:off x="9612173" y="4308653"/>
            <a:ext cx="252374" cy="252374"/>
          </a:xfrm>
          <a:prstGeom prst="rect">
            <a:avLst/>
          </a:prstGeom>
        </p:spPr>
      </p:pic>
      <p:sp>
        <p:nvSpPr>
          <p:cNvPr id="33" name="Text 24"/>
          <p:cNvSpPr txBox="1"/>
          <p:nvPr/>
        </p:nvSpPr>
        <p:spPr>
          <a:xfrm>
            <a:off x="9464040" y="4846320"/>
            <a:ext cx="2011680" cy="320040"/>
          </a:xfrm>
          <a:prstGeom prst="rect">
            <a:avLst/>
          </a:prstGeom>
          <a:noFill/>
          <a:ln/>
        </p:spPr>
        <p:txBody>
          <a:bodyPr wrap="square" lIns="0" tIns="0" rIns="0" bIns="0" rtlCol="0" anchor="t"/>
          <a:lstStyle/>
          <a:p>
            <a:pPr marL="0" indent="0">
              <a:buNone/>
            </a:pPr>
            <a:r>
              <a:rPr lang="en-US" sz="1600" b="1" dirty="0">
                <a:solidFill>
                  <a:schemeClr val="tx1"/>
                </a:solidFill>
                <a:latin typeface="Arial" pitchFamily="34" charset="0"/>
                <a:ea typeface="Arial" pitchFamily="34" charset="-122"/>
                <a:cs typeface="Arial" pitchFamily="34" charset="-120"/>
              </a:rPr>
              <a:t>Scales up</a:t>
            </a:r>
            <a:endParaRPr lang="en-US" sz="1600" dirty="0"/>
          </a:p>
        </p:txBody>
      </p:sp>
      <p:sp>
        <p:nvSpPr>
          <p:cNvPr id="34" name="Text 25"/>
          <p:cNvSpPr txBox="1"/>
          <p:nvPr/>
        </p:nvSpPr>
        <p:spPr>
          <a:xfrm>
            <a:off x="9464040" y="5184648"/>
            <a:ext cx="2011680" cy="640080"/>
          </a:xfrm>
          <a:prstGeom prst="rect">
            <a:avLst/>
          </a:prstGeom>
          <a:noFill/>
          <a:ln/>
        </p:spPr>
        <p:txBody>
          <a:bodyPr wrap="square" lIns="0" tIns="0" rIns="0" bIns="0" rtlCol="0" anchor="t"/>
          <a:lstStyle/>
          <a:p>
            <a:pPr marL="0" indent="0">
              <a:buNone/>
            </a:pPr>
            <a:r>
              <a:rPr lang="en-US" sz="1100" dirty="0">
                <a:solidFill>
                  <a:schemeClr val="tx2"/>
                </a:solidFill>
                <a:latin typeface="Arial" pitchFamily="34" charset="0"/>
                <a:ea typeface="Arial" pitchFamily="34" charset="-122"/>
                <a:cs typeface="Arial" pitchFamily="34" charset="-120"/>
              </a:rPr>
              <a:t>Extend to more hubs, live alert data and other workforce planning.</a:t>
            </a:r>
            <a:endParaRPr lang="en-US" sz="1100" dirty="0"/>
          </a:p>
        </p:txBody>
      </p:sp>
      <p:sp>
        <p:nvSpPr>
          <p:cNvPr id="3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ield circle"/>
          <p:cNvSpPr/>
          <p:nvPr/>
        </p:nvSpPr>
        <p:spPr>
          <a:xfrm>
            <a:off x="5367528" y="822960"/>
            <a:ext cx="1463040" cy="1463040"/>
          </a:xfrm>
          <a:prstGeom prst="ellipse">
            <a:avLst/>
          </a:prstGeom>
          <a:solidFill>
            <a:schemeClr val="accent1"/>
          </a:solidFill>
          <a:ln w="12700">
            <a:solidFill>
              <a:schemeClr val="accent1"/>
            </a:solidFill>
            <a:prstDash val="solid"/>
          </a:ln>
        </p:spPr>
        <p:txBody>
          <a:bodyPr/>
          <a:lstStyle/>
          <a:p>
            <a:endParaRPr lang="en-US"/>
          </a:p>
        </p:txBody>
      </p:sp>
      <p:pic>
        <p:nvPicPr>
          <p:cNvPr id="3" name="Image 0" descr="Shield icon"/>
          <p:cNvPicPr>
            <a:picLocks noChangeAspect="1"/>
          </p:cNvPicPr>
          <p:nvPr/>
        </p:nvPicPr>
        <p:blipFill>
          <a:blip r:embed="rId3"/>
          <a:stretch>
            <a:fillRect/>
          </a:stretch>
        </p:blipFill>
        <p:spPr>
          <a:xfrm>
            <a:off x="5760720" y="1216152"/>
            <a:ext cx="676656" cy="676656"/>
          </a:xfrm>
          <a:prstGeom prst="rect">
            <a:avLst/>
          </a:prstGeom>
        </p:spPr>
      </p:pic>
      <p:sp>
        <p:nvSpPr>
          <p:cNvPr id="4" name="Text 1"/>
          <p:cNvSpPr txBox="1"/>
          <p:nvPr/>
        </p:nvSpPr>
        <p:spPr>
          <a:xfrm>
            <a:off x="548640" y="2560320"/>
            <a:ext cx="11091672" cy="1097280"/>
          </a:xfrm>
          <a:prstGeom prst="rect">
            <a:avLst/>
          </a:prstGeom>
          <a:noFill/>
          <a:ln/>
        </p:spPr>
        <p:txBody>
          <a:bodyPr wrap="square" lIns="0" tIns="0" rIns="0" bIns="0" rtlCol="0" anchor="ctr"/>
          <a:lstStyle/>
          <a:p>
            <a:pPr marL="0" indent="0" algn="ctr">
              <a:buNone/>
            </a:pPr>
            <a:r>
              <a:rPr lang="en-US" sz="6600" b="1" dirty="0">
                <a:solidFill>
                  <a:schemeClr val="bg1"/>
                </a:solidFill>
                <a:latin typeface="Arial" pitchFamily="34" charset="0"/>
                <a:ea typeface="Arial" pitchFamily="34" charset="-122"/>
                <a:cs typeface="Arial" pitchFamily="34" charset="-120"/>
              </a:rPr>
              <a:t>THANK YOU</a:t>
            </a:r>
            <a:endParaRPr lang="en-US" sz="6600" dirty="0"/>
          </a:p>
        </p:txBody>
      </p:sp>
      <p:sp>
        <p:nvSpPr>
          <p:cNvPr id="5" name="Text 2"/>
          <p:cNvSpPr txBox="1"/>
          <p:nvPr/>
        </p:nvSpPr>
        <p:spPr>
          <a:xfrm>
            <a:off x="548640" y="3749040"/>
            <a:ext cx="11091672" cy="548640"/>
          </a:xfrm>
          <a:prstGeom prst="rect">
            <a:avLst/>
          </a:prstGeom>
          <a:noFill/>
          <a:ln/>
        </p:spPr>
        <p:txBody>
          <a:bodyPr wrap="square" lIns="0" tIns="0" rIns="0" bIns="0" rtlCol="0" anchor="t"/>
          <a:lstStyle/>
          <a:p>
            <a:pPr marL="0" indent="0" algn="ctr">
              <a:buNone/>
            </a:pPr>
            <a:r>
              <a:rPr lang="en-US" sz="2800" dirty="0">
                <a:solidFill>
                  <a:schemeClr val="bg1"/>
                </a:solidFill>
                <a:latin typeface="Arial" pitchFamily="34" charset="0"/>
                <a:ea typeface="Arial" pitchFamily="34" charset="-122"/>
                <a:cs typeface="Arial" pitchFamily="34" charset="-120"/>
              </a:rPr>
              <a:t>Any Questions?</a:t>
            </a:r>
            <a:endParaRPr lang="en-US" sz="2800" dirty="0"/>
          </a:p>
        </p:txBody>
      </p:sp>
      <p:sp>
        <p:nvSpPr>
          <p:cNvPr id="6" name="Text 3"/>
          <p:cNvSpPr txBox="1"/>
          <p:nvPr/>
        </p:nvSpPr>
        <p:spPr>
          <a:xfrm>
            <a:off x="548640" y="4572000"/>
            <a:ext cx="11091672" cy="457200"/>
          </a:xfrm>
          <a:prstGeom prst="rect">
            <a:avLst/>
          </a:prstGeom>
          <a:noFill/>
          <a:ln/>
        </p:spPr>
        <p:txBody>
          <a:bodyPr wrap="square" lIns="0" tIns="0" rIns="0" bIns="0" rtlCol="0" anchor="t"/>
          <a:lstStyle/>
          <a:p>
            <a:pPr marL="0" indent="0" algn="ctr">
              <a:buNone/>
            </a:pPr>
            <a:r>
              <a:rPr lang="en-US" sz="1800" dirty="0">
                <a:solidFill>
                  <a:schemeClr val="accent5"/>
                </a:solidFill>
                <a:latin typeface="Arial" pitchFamily="34" charset="0"/>
                <a:ea typeface="Arial" pitchFamily="34" charset="-122"/>
                <a:cs typeface="Arial" pitchFamily="34" charset="-120"/>
              </a:rPr>
              <a:t>Dr. Amera Alam  ·  Team </a:t>
            </a:r>
            <a:r>
              <a:rPr lang="ar-EG" sz="1800" dirty="0">
                <a:solidFill>
                  <a:schemeClr val="accent5"/>
                </a:solidFill>
                <a:latin typeface="Arial" pitchFamily="34" charset="0"/>
                <a:ea typeface="Arial" pitchFamily="34" charset="-122"/>
                <a:cs typeface="Arial" pitchFamily="34" charset="-120"/>
              </a:rPr>
              <a:t>2</a:t>
            </a:r>
            <a:endParaRPr lang="en-US" sz="1800" dirty="0"/>
          </a:p>
        </p:txBody>
      </p:sp>
      <p:sp>
        <p:nvSpPr>
          <p:cNvPr id="7" name="Text 4"/>
          <p:cNvSpPr txBox="1"/>
          <p:nvPr/>
        </p:nvSpPr>
        <p:spPr>
          <a:xfrm>
            <a:off x="548640" y="6035040"/>
            <a:ext cx="11091672" cy="82296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Transportation Model for SOC Incident Response</a:t>
            </a:r>
            <a:endParaRPr lang="en-US" sz="1600" dirty="0"/>
          </a:p>
        </p:txBody>
      </p:sp>
    </p:spTree>
  </p:cSld>
  <p:clrMapOvr>
    <a:masterClrMapping/>
  </p:clrMapOvr>
</p:sld>
</file>

<file path=ppt/theme/theme1.xml><?xml version="1.0" encoding="utf-8"?>
<a:theme xmlns:a="http://schemas.openxmlformats.org/drawingml/2006/main" name="SOC Blue &amp; White">
  <a:themeElements>
    <a:clrScheme name="SOC Blue &amp; White">
      <a:dk1>
        <a:srgbClr val="1E1E2C"/>
      </a:dk1>
      <a:lt1>
        <a:srgbClr val="FFFFFF"/>
      </a:lt1>
      <a:dk2>
        <a:srgbClr val="5F5F6B"/>
      </a:dk2>
      <a:lt2>
        <a:srgbClr val="F4F8FE"/>
      </a:lt2>
      <a:accent1>
        <a:srgbClr val="1D5FD1"/>
      </a:accent1>
      <a:accent2>
        <a:srgbClr val="0B3A8C"/>
      </a:accent2>
      <a:accent3>
        <a:srgbClr val="DCE8FB"/>
      </a:accent3>
      <a:accent4>
        <a:srgbClr val="9A9AA6"/>
      </a:accent4>
      <a:accent5>
        <a:srgbClr val="8DB4F0"/>
      </a:accent5>
      <a:accent6>
        <a:srgbClr val="2B2D42"/>
      </a:accent6>
      <a:hlink>
        <a:srgbClr val="1D5FD1"/>
      </a:hlink>
      <a:folHlink>
        <a:srgbClr val="0B3A8C"/>
      </a:folHlink>
    </a:clrScheme>
    <a:fontScheme name="SOC Blue &amp; W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1629</Words>
  <Application>Microsoft Office PowerPoint</Application>
  <PresentationFormat>Widescreen</PresentationFormat>
  <Paragraphs>293</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Courier New</vt:lpstr>
      <vt:lpstr>SOC Blue &amp; White</vt:lpstr>
      <vt:lpstr>PowerPoint Presentation</vt:lpstr>
      <vt:lpstr>AGENDA</vt:lpstr>
      <vt:lpstr>THE CYBER EMERGENCY</vt:lpstr>
      <vt:lpstr>PROBLEM DEFINITION</vt:lpstr>
      <vt:lpstr>THE DATA: SUPPLY AND COST</vt:lpstr>
      <vt:lpstr>MATHEMATICAL FORMULATION</vt:lpstr>
      <vt:lpstr>SOLUTION METHODS</vt:lpstr>
      <vt:lpstr>WHEN ALERTS ≠ ENGINEERS</vt:lpstr>
      <vt:lpstr>CODE OVERVIEW</vt:lpstr>
      <vt:lpstr>RESULTS: TOTAL COST</vt:lpstr>
      <vt:lpstr>VAM: STEP BY STEP</vt:lpstr>
      <vt:lpstr>LEAST COST: STEP BY STEP</vt:lpstr>
      <vt:lpstr>MODI: STEP BY STEP</vt:lpstr>
      <vt:lpstr>Transportation Problem Simulation</vt:lpstr>
      <vt:lpstr>DISCUSSION &amp; CONCLUSION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Cyber Incident Response</dc:title>
  <dc:subject>PptxGenJS Presentation</dc:subject>
  <dc:creator>Team 3</dc:creator>
  <cp:lastModifiedBy>mohammed hazem</cp:lastModifiedBy>
  <cp:revision>14</cp:revision>
  <dcterms:created xsi:type="dcterms:W3CDTF">2026-10-11T20:51:00Z</dcterms:created>
  <dcterms:modified xsi:type="dcterms:W3CDTF">2026-10-13T08:33:00Z</dcterms:modified>
</cp:coreProperties>
</file>